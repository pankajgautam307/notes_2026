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9.xml" ContentType="application/vnd.openxmlformats-officedocument.presentationml.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7"/>
  </p:notesMasterIdLst>
  <p:sldIdLst>
    <p:sldId id="256" r:id="rId2"/>
    <p:sldId id="257" r:id="rId3"/>
    <p:sldId id="258" r:id="rId4"/>
    <p:sldId id="259" r:id="rId5"/>
    <p:sldId id="329" r:id="rId6"/>
    <p:sldId id="330" r:id="rId7"/>
    <p:sldId id="332" r:id="rId8"/>
    <p:sldId id="331" r:id="rId9"/>
    <p:sldId id="333" r:id="rId10"/>
    <p:sldId id="334" r:id="rId11"/>
    <p:sldId id="335" r:id="rId12"/>
    <p:sldId id="336" r:id="rId13"/>
    <p:sldId id="337" r:id="rId14"/>
    <p:sldId id="260" r:id="rId15"/>
    <p:sldId id="261" r:id="rId16"/>
    <p:sldId id="338" r:id="rId17"/>
    <p:sldId id="339" r:id="rId18"/>
    <p:sldId id="340" r:id="rId19"/>
    <p:sldId id="262" r:id="rId20"/>
    <p:sldId id="342" r:id="rId21"/>
    <p:sldId id="263" r:id="rId22"/>
    <p:sldId id="341" r:id="rId23"/>
    <p:sldId id="346" r:id="rId24"/>
    <p:sldId id="348" r:id="rId25"/>
    <p:sldId id="347" r:id="rId26"/>
    <p:sldId id="349" r:id="rId27"/>
    <p:sldId id="264" r:id="rId28"/>
    <p:sldId id="265" r:id="rId29"/>
    <p:sldId id="266" r:id="rId30"/>
    <p:sldId id="344" r:id="rId31"/>
    <p:sldId id="343" r:id="rId32"/>
    <p:sldId id="345" r:id="rId33"/>
    <p:sldId id="267" r:id="rId34"/>
    <p:sldId id="268" r:id="rId35"/>
    <p:sldId id="269" r:id="rId36"/>
    <p:sldId id="270" r:id="rId37"/>
    <p:sldId id="271" r:id="rId38"/>
    <p:sldId id="272" r:id="rId39"/>
    <p:sldId id="273" r:id="rId40"/>
    <p:sldId id="274" r:id="rId41"/>
    <p:sldId id="275" r:id="rId42"/>
    <p:sldId id="276" r:id="rId43"/>
    <p:sldId id="277" r:id="rId44"/>
    <p:sldId id="350" r:id="rId45"/>
    <p:sldId id="278" r:id="rId46"/>
    <p:sldId id="279" r:id="rId47"/>
    <p:sldId id="280" r:id="rId48"/>
    <p:sldId id="281" r:id="rId49"/>
    <p:sldId id="282" r:id="rId50"/>
    <p:sldId id="283" r:id="rId51"/>
    <p:sldId id="284" r:id="rId52"/>
    <p:sldId id="285" r:id="rId53"/>
    <p:sldId id="286" r:id="rId54"/>
    <p:sldId id="287" r:id="rId55"/>
    <p:sldId id="288" r:id="rId56"/>
    <p:sldId id="289" r:id="rId57"/>
    <p:sldId id="290" r:id="rId58"/>
    <p:sldId id="291" r:id="rId59"/>
    <p:sldId id="292" r:id="rId60"/>
    <p:sldId id="293" r:id="rId61"/>
    <p:sldId id="294" r:id="rId62"/>
    <p:sldId id="295" r:id="rId63"/>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319" r:id="rId87"/>
    <p:sldId id="320" r:id="rId88"/>
    <p:sldId id="321" r:id="rId89"/>
    <p:sldId id="322" r:id="rId90"/>
    <p:sldId id="323" r:id="rId91"/>
    <p:sldId id="324" r:id="rId92"/>
    <p:sldId id="325" r:id="rId93"/>
    <p:sldId id="326" r:id="rId94"/>
    <p:sldId id="327" r:id="rId95"/>
    <p:sldId id="328"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6" d="100"/>
          <a:sy n="56" d="100"/>
        </p:scale>
        <p:origin x="-150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480D21-A166-4BCC-A5CC-D480426E7773}" type="datetimeFigureOut">
              <a:rPr lang="en-US" smtClean="0"/>
              <a:pPr/>
              <a:t>1/29/2026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ADF4EB-D77B-4302-839C-161C3FAB498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It is the basic function of management. It deals with chalking out a future </a:t>
            </a:r>
          </a:p>
          <a:p>
            <a:r>
              <a:rPr lang="en-US" sz="1200" dirty="0" smtClean="0"/>
              <a:t>course of action &amp; deciding in advance the most appropriate course of </a:t>
            </a:r>
          </a:p>
          <a:p>
            <a:r>
              <a:rPr lang="en-US" sz="1200" dirty="0" smtClean="0"/>
              <a:t>actions for achievement of pre-determined goals. According to KOONTZ, “Planning is deciding in advance - what to do, when to do &amp; how to do. It bridges the gap from where we are &amp; where we want to be”. A plan is a future course of actions. It is an exercise in problem solving &amp; decision making. </a:t>
            </a:r>
          </a:p>
          <a:p>
            <a:r>
              <a:rPr lang="en-US" sz="1200" dirty="0" smtClean="0"/>
              <a:t>Planning is determination of courses of action to achieve desired goals. </a:t>
            </a:r>
          </a:p>
          <a:p>
            <a:r>
              <a:rPr lang="en-US" sz="1200" dirty="0" smtClean="0"/>
              <a:t>Thus, planning is a systematic thinking about ways &amp; means for accomplishment of pre-determined goals. Planning is necessary to ensure proper utilization of human &amp; non-human resources. It is all pervasive, it is an intellectual activity and it also helps in avoiding confusion, uncertainties, risks, wastages etc.</a:t>
            </a:r>
          </a:p>
          <a:p>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16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17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18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Staffing has assumed greater importance in the recent years due to advancement of technology, increase in size of business, complexity of human behavior etc. </a:t>
            </a:r>
            <a:endParaRPr lang="en-US" dirty="0"/>
          </a:p>
        </p:txBody>
      </p:sp>
      <p:sp>
        <p:nvSpPr>
          <p:cNvPr id="4" name="Slide Number Placeholder 3"/>
          <p:cNvSpPr>
            <a:spLocks noGrp="1"/>
          </p:cNvSpPr>
          <p:nvPr>
            <p:ph type="sldNum" sz="quarter" idx="10"/>
          </p:nvPr>
        </p:nvSpPr>
        <p:spPr/>
        <p:txBody>
          <a:bodyPr/>
          <a:lstStyle/>
          <a:p>
            <a:fld id="{07ADF4EB-D77B-4302-839C-161C3FAB4986}" type="slidenum">
              <a:rPr lang="en-US" smtClean="0"/>
              <a:pPr/>
              <a:t>21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7ADF4EB-D77B-4302-839C-161C3FAB4986}" type="slidenum">
              <a:rPr lang="en-US" smtClean="0"/>
              <a:pPr/>
              <a:t>23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Imagine a </a:t>
            </a:r>
            <a:r>
              <a:rPr lang="en-US" sz="1200" b="1" kern="1200" dirty="0" err="1" smtClean="0">
                <a:solidFill>
                  <a:schemeClr val="tx1"/>
                </a:solidFill>
                <a:latin typeface="+mn-lt"/>
                <a:ea typeface="+mn-ea"/>
                <a:cs typeface="+mn-cs"/>
              </a:rPr>
              <a:t>Himachali</a:t>
            </a:r>
            <a:r>
              <a:rPr lang="en-US" sz="1200" b="1" kern="1200" dirty="0" smtClean="0">
                <a:solidFill>
                  <a:schemeClr val="tx1"/>
                </a:solidFill>
                <a:latin typeface="+mn-lt"/>
                <a:ea typeface="+mn-ea"/>
                <a:cs typeface="+mn-cs"/>
              </a:rPr>
              <a:t> Folk Dance (</a:t>
            </a:r>
            <a:r>
              <a:rPr lang="en-US" sz="1200" b="1" kern="1200" dirty="0" err="1" smtClean="0">
                <a:solidFill>
                  <a:schemeClr val="tx1"/>
                </a:solidFill>
                <a:latin typeface="+mn-lt"/>
                <a:ea typeface="+mn-ea"/>
                <a:cs typeface="+mn-cs"/>
              </a:rPr>
              <a:t>Nati</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 If one dancer moves left while the others move right, the chain breaks, and the rhythm is lost. Even if every dancer is individually talented, the performance fails without synchronization. Similarly, in an organization, coordination ensures that the Marketing department, Production department, and Finance department all move in the same direction at the same time.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7ADF4EB-D77B-4302-839C-161C3FAB4986}" type="slidenum">
              <a:rPr lang="en-US" smtClean="0"/>
              <a:pPr/>
              <a:t>24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Imagine a </a:t>
            </a:r>
            <a:r>
              <a:rPr lang="en-US" sz="1200" b="1" kern="1200" dirty="0" err="1" smtClean="0">
                <a:solidFill>
                  <a:schemeClr val="tx1"/>
                </a:solidFill>
                <a:latin typeface="+mn-lt"/>
                <a:ea typeface="+mn-ea"/>
                <a:cs typeface="+mn-cs"/>
              </a:rPr>
              <a:t>Himachali</a:t>
            </a:r>
            <a:r>
              <a:rPr lang="en-US" sz="1200" b="1" kern="1200" dirty="0" smtClean="0">
                <a:solidFill>
                  <a:schemeClr val="tx1"/>
                </a:solidFill>
                <a:latin typeface="+mn-lt"/>
                <a:ea typeface="+mn-ea"/>
                <a:cs typeface="+mn-cs"/>
              </a:rPr>
              <a:t> Folk Dance (</a:t>
            </a:r>
            <a:r>
              <a:rPr lang="en-US" sz="1200" b="1" kern="1200" dirty="0" err="1" smtClean="0">
                <a:solidFill>
                  <a:schemeClr val="tx1"/>
                </a:solidFill>
                <a:latin typeface="+mn-lt"/>
                <a:ea typeface="+mn-ea"/>
                <a:cs typeface="+mn-cs"/>
              </a:rPr>
              <a:t>Nati</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 If one dancer moves left while the others move right, the chain breaks, and the rhythm is lost. Even if every dancer is individually talented, the performance fails without synchronization. Similarly, in an organization, coordination ensures that the Marketing department, Production department, and Finance department all move in the same direction at the same time.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7ADF4EB-D77B-4302-839C-161C3FAB4986}" type="slidenum">
              <a:rPr lang="en-US" smtClean="0"/>
              <a:pPr/>
              <a:t>25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Imagine a </a:t>
            </a:r>
            <a:r>
              <a:rPr lang="en-US" sz="1200" b="1" kern="1200" dirty="0" err="1" smtClean="0">
                <a:solidFill>
                  <a:schemeClr val="tx1"/>
                </a:solidFill>
                <a:latin typeface="+mn-lt"/>
                <a:ea typeface="+mn-ea"/>
                <a:cs typeface="+mn-cs"/>
              </a:rPr>
              <a:t>Himachali</a:t>
            </a:r>
            <a:r>
              <a:rPr lang="en-US" sz="1200" b="1" kern="1200" dirty="0" smtClean="0">
                <a:solidFill>
                  <a:schemeClr val="tx1"/>
                </a:solidFill>
                <a:latin typeface="+mn-lt"/>
                <a:ea typeface="+mn-ea"/>
                <a:cs typeface="+mn-cs"/>
              </a:rPr>
              <a:t> Folk Dance (</a:t>
            </a:r>
            <a:r>
              <a:rPr lang="en-US" sz="1200" b="1" kern="1200" dirty="0" err="1" smtClean="0">
                <a:solidFill>
                  <a:schemeClr val="tx1"/>
                </a:solidFill>
                <a:latin typeface="+mn-lt"/>
                <a:ea typeface="+mn-ea"/>
                <a:cs typeface="+mn-cs"/>
              </a:rPr>
              <a:t>Nati</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 If one dancer moves left while the others move right, the chain breaks, and the rhythm is lost. Even if every dancer is individually talented, the performance fails without synchronization. Similarly, in an organization, coordination ensures that the Marketing department, Production department, and Finance department all move in the same direction at the same time.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7ADF4EB-D77B-4302-839C-161C3FAB4986}" type="slidenum">
              <a:rPr lang="en-US" smtClean="0"/>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7E21883C-E333-4839-B1BA-70F65EEED004}" type="datetimeFigureOut">
              <a:rPr lang="en-US" smtClean="0"/>
              <a:pPr/>
              <a:t>1/29/2026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9E433627-3E02-4E54-9AF1-D6E96912F4A8}"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E21883C-E333-4839-B1BA-70F65EEED004}"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E21883C-E333-4839-B1BA-70F65EEED004}"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33627-3E02-4E54-9AF1-D6E96912F4A8}"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E21883C-E333-4839-B1BA-70F65EEED004}"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E21883C-E333-4839-B1BA-70F65EEED004}" type="datetimeFigureOut">
              <a:rPr lang="en-US" smtClean="0"/>
              <a:pPr/>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E21883C-E333-4839-B1BA-70F65EEED004}" type="datetimeFigureOut">
              <a:rPr lang="en-US" smtClean="0"/>
              <a:pPr/>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7E21883C-E333-4839-B1BA-70F65EEED004}"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433627-3E02-4E54-9AF1-D6E96912F4A8}"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E21883C-E333-4839-B1BA-70F65EEED004}"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E21883C-E333-4839-B1BA-70F65EEED004}" type="datetimeFigureOut">
              <a:rPr lang="en-US" smtClean="0"/>
              <a:pPr/>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33627-3E02-4E54-9AF1-D6E96912F4A8}"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E21883C-E333-4839-B1BA-70F65EEED004}"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E21883C-E333-4839-B1BA-70F65EEED004}"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33627-3E02-4E54-9AF1-D6E96912F4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7E21883C-E333-4839-B1BA-70F65EEED004}" type="datetimeFigureOut">
              <a:rPr lang="en-US" smtClean="0"/>
              <a:pPr/>
              <a:t>1/29/2026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9E433627-3E02-4E54-9AF1-D6E96912F4A8}"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cdn.businessmanagementideas.com/wp-content/uploads/2016/06/clip_image002-25.jp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cdn.businessmanagementideas.com/wp-content/uploads/2016/06/image-2.pn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359898"/>
            <a:ext cx="7406640" cy="1068838"/>
          </a:xfrm>
        </p:spPr>
        <p:txBody>
          <a:bodyPr/>
          <a:lstStyle/>
          <a:p>
            <a:endParaRPr lang="en-US" dirty="0"/>
          </a:p>
        </p:txBody>
      </p:sp>
      <p:sp>
        <p:nvSpPr>
          <p:cNvPr id="3" name="Subtitle 2"/>
          <p:cNvSpPr>
            <a:spLocks noGrp="1"/>
          </p:cNvSpPr>
          <p:nvPr>
            <p:ph type="subTitle" idx="1"/>
          </p:nvPr>
        </p:nvSpPr>
        <p:spPr>
          <a:xfrm>
            <a:off x="1432560" y="2643182"/>
            <a:ext cx="7406640" cy="1571636"/>
          </a:xfrm>
        </p:spPr>
        <p:txBody>
          <a:bodyPr/>
          <a:lstStyle/>
          <a:p>
            <a:pPr algn="ctr"/>
            <a:r>
              <a:rPr lang="en-US" b="1" dirty="0" smtClean="0"/>
              <a:t>BASICS OF MANAGEMENT </a:t>
            </a:r>
            <a:endParaRPr lang="en-US" dirty="0" smtClean="0"/>
          </a:p>
          <a:p>
            <a:pPr algn="ctr"/>
            <a:endParaRPr lang="en-US" dirty="0"/>
          </a:p>
        </p:txBody>
      </p:sp>
      <p:pic>
        <p:nvPicPr>
          <p:cNvPr id="4" name="Picture 3" descr="Untitled.png"/>
          <p:cNvPicPr>
            <a:picLocks noChangeAspect="1"/>
          </p:cNvPicPr>
          <p:nvPr/>
        </p:nvPicPr>
        <p:blipFill>
          <a:blip r:embed="rId2"/>
          <a:stretch>
            <a:fillRect/>
          </a:stretch>
        </p:blipFill>
        <p:spPr>
          <a:xfrm>
            <a:off x="968846" y="0"/>
            <a:ext cx="8175154" cy="1500174"/>
          </a:xfrm>
          <a:prstGeom prst="rect">
            <a:avLst/>
          </a:prstGeom>
        </p:spPr>
      </p:pic>
      <p:sp>
        <p:nvSpPr>
          <p:cNvPr id="5" name="TextBox 4"/>
          <p:cNvSpPr txBox="1"/>
          <p:nvPr/>
        </p:nvSpPr>
        <p:spPr>
          <a:xfrm>
            <a:off x="4786314" y="5500702"/>
            <a:ext cx="4143372" cy="430887"/>
          </a:xfrm>
          <a:prstGeom prst="rect">
            <a:avLst/>
          </a:prstGeom>
          <a:noFill/>
        </p:spPr>
        <p:txBody>
          <a:bodyPr wrap="square" rtlCol="0">
            <a:spAutoFit/>
          </a:bodyPr>
          <a:lstStyle/>
          <a:p>
            <a:r>
              <a:rPr lang="en-GB" sz="2200" dirty="0" smtClean="0"/>
              <a:t>Presented by:   Pankaj </a:t>
            </a:r>
            <a:r>
              <a:rPr lang="en-GB" sz="2200" dirty="0" err="1" smtClean="0"/>
              <a:t>Gautam</a:t>
            </a:r>
            <a:endParaRPr lang="en-US" sz="2200" dirty="0"/>
          </a:p>
        </p:txBody>
      </p:sp>
      <p:sp>
        <p:nvSpPr>
          <p:cNvPr id="6" name="TextBox 5"/>
          <p:cNvSpPr txBox="1"/>
          <p:nvPr/>
        </p:nvSpPr>
        <p:spPr>
          <a:xfrm>
            <a:off x="3500430" y="3857628"/>
            <a:ext cx="3048270" cy="584775"/>
          </a:xfrm>
          <a:prstGeom prst="rect">
            <a:avLst/>
          </a:prstGeom>
          <a:noFill/>
        </p:spPr>
        <p:txBody>
          <a:bodyPr wrap="none" rtlCol="0">
            <a:spAutoFit/>
          </a:bodyPr>
          <a:lstStyle/>
          <a:p>
            <a:r>
              <a:rPr lang="en-GB" sz="3200" dirty="0" smtClean="0">
                <a:latin typeface="Adobe Caslon Pro" panose="0205050205050A020403" pitchFamily="18" charset="0"/>
              </a:rPr>
              <a:t>(IT </a:t>
            </a:r>
            <a:r>
              <a:rPr lang="en-GB" sz="3200" dirty="0" smtClean="0">
                <a:latin typeface="Adobe Caslon Pro" panose="0205050205050A020403" pitchFamily="18" charset="0"/>
              </a:rPr>
              <a:t>6</a:t>
            </a:r>
            <a:r>
              <a:rPr lang="en-GB" sz="3200" baseline="30000" dirty="0" smtClean="0">
                <a:latin typeface="Adobe Caslon Pro" panose="0205050205050A020403" pitchFamily="18" charset="0"/>
              </a:rPr>
              <a:t>th</a:t>
            </a:r>
            <a:r>
              <a:rPr lang="en-GB" sz="3200" dirty="0" smtClean="0">
                <a:latin typeface="Adobe Caslon Pro" panose="0205050205050A020403" pitchFamily="18" charset="0"/>
              </a:rPr>
              <a:t> </a:t>
            </a:r>
            <a:r>
              <a:rPr lang="en-GB" sz="3200" dirty="0" smtClean="0">
                <a:latin typeface="Adobe Caslon Pro" panose="0205050205050A020403" pitchFamily="18" charset="0"/>
              </a:rPr>
              <a:t>Semester)</a:t>
            </a:r>
            <a:endParaRPr lang="en-US" sz="3200" dirty="0">
              <a:latin typeface="Adobe Caslon Pro" panose="0205050205050A020403"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857892"/>
          </a:xfrm>
        </p:spPr>
        <p:txBody>
          <a:bodyPr>
            <a:normAutofit/>
          </a:bodyPr>
          <a:lstStyle/>
          <a:p>
            <a:pPr algn="ctr">
              <a:buNone/>
            </a:pPr>
            <a:r>
              <a:rPr lang="en-GB" sz="2800" dirty="0" smtClean="0"/>
              <a:t>Definitions of Management</a:t>
            </a:r>
          </a:p>
          <a:p>
            <a:pPr algn="ctr">
              <a:buNone/>
            </a:pPr>
            <a:endParaRPr lang="en-GB" sz="2400" dirty="0" smtClean="0"/>
          </a:p>
          <a:p>
            <a:r>
              <a:rPr lang="en-US" sz="2400" b="1" dirty="0" smtClean="0"/>
              <a:t>According to Peter </a:t>
            </a:r>
            <a:r>
              <a:rPr lang="en-US" sz="2400" b="1" dirty="0" err="1" smtClean="0"/>
              <a:t>Drucker</a:t>
            </a:r>
            <a:endParaRPr lang="en-US" sz="2400" dirty="0" smtClean="0"/>
          </a:p>
          <a:p>
            <a:pPr>
              <a:buNone/>
            </a:pPr>
            <a:r>
              <a:rPr lang="en-US" sz="2400" dirty="0" smtClean="0"/>
              <a:t>     "Management is a multi-purpose organ that manages business and manages managers and manages workers and work."</a:t>
            </a:r>
          </a:p>
          <a:p>
            <a:pPr>
              <a:buNone/>
            </a:pPr>
            <a:r>
              <a:rPr lang="en-US" sz="2400" dirty="0" smtClean="0"/>
              <a:t>     This definition of management was given by Peter </a:t>
            </a:r>
            <a:r>
              <a:rPr lang="en-US" sz="2400" dirty="0" err="1" smtClean="0"/>
              <a:t>Drucker</a:t>
            </a:r>
            <a:r>
              <a:rPr lang="en-US" sz="2400" dirty="0" smtClean="0"/>
              <a:t> in his book "The Principles of Management".</a:t>
            </a:r>
          </a:p>
          <a:p>
            <a:pPr>
              <a:buNone/>
            </a:pPr>
            <a:endParaRPr lang="en-US" sz="2400" dirty="0" smtClean="0"/>
          </a:p>
          <a:p>
            <a:r>
              <a:rPr lang="en-US" sz="2400" b="1" dirty="0" smtClean="0"/>
              <a:t>According to Mary Parker </a:t>
            </a:r>
            <a:r>
              <a:rPr lang="en-US" sz="2400" b="1" dirty="0" err="1" smtClean="0"/>
              <a:t>Follet</a:t>
            </a:r>
            <a:r>
              <a:rPr lang="en-US" sz="2400" b="1" dirty="0" smtClean="0"/>
              <a:t>,</a:t>
            </a:r>
            <a:endParaRPr lang="en-US" sz="2400" dirty="0" smtClean="0"/>
          </a:p>
          <a:p>
            <a:pPr>
              <a:buNone/>
            </a:pPr>
            <a:r>
              <a:rPr lang="en-US" sz="2400" dirty="0" smtClean="0"/>
              <a:t>   "Management is the art of getting things done through people.“</a:t>
            </a:r>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857892"/>
          </a:xfrm>
        </p:spPr>
        <p:txBody>
          <a:bodyPr>
            <a:normAutofit/>
          </a:bodyPr>
          <a:lstStyle/>
          <a:p>
            <a:pPr algn="ctr">
              <a:buNone/>
            </a:pPr>
            <a:r>
              <a:rPr lang="en-GB" sz="2800" dirty="0" smtClean="0"/>
              <a:t>Definitions of Management</a:t>
            </a:r>
          </a:p>
          <a:p>
            <a:pPr algn="ctr">
              <a:buNone/>
            </a:pPr>
            <a:endParaRPr lang="en-GB" sz="2400" dirty="0" smtClean="0"/>
          </a:p>
          <a:p>
            <a:r>
              <a:rPr lang="en-US" sz="2400" b="1" dirty="0" smtClean="0"/>
              <a:t>According to Harold Koontz,</a:t>
            </a:r>
            <a:endParaRPr lang="en-US" sz="2400" dirty="0" smtClean="0"/>
          </a:p>
          <a:p>
            <a:pPr>
              <a:buNone/>
            </a:pPr>
            <a:r>
              <a:rPr lang="en-US" sz="2400" dirty="0" smtClean="0"/>
              <a:t>     "Management is the art of getting things done through and with people in formally organized groups."</a:t>
            </a:r>
          </a:p>
          <a:p>
            <a:pPr>
              <a:buNone/>
            </a:pPr>
            <a:r>
              <a:rPr lang="en-US" sz="2400" dirty="0" smtClean="0"/>
              <a:t>     Harold Koontz gave this definition of management in his book "The Management Theory Jungle".</a:t>
            </a:r>
          </a:p>
          <a:p>
            <a:pPr>
              <a:buNone/>
            </a:pPr>
            <a:endParaRPr lang="en-US" sz="2400" dirty="0" smtClean="0"/>
          </a:p>
          <a:p>
            <a:r>
              <a:rPr lang="en-US" sz="2400" b="1" dirty="0" smtClean="0"/>
              <a:t>According to Henri </a:t>
            </a:r>
            <a:r>
              <a:rPr lang="en-US" sz="2400" b="1" dirty="0" err="1" smtClean="0"/>
              <a:t>Fayol</a:t>
            </a:r>
            <a:r>
              <a:rPr lang="en-US" sz="2400" b="1" dirty="0" smtClean="0"/>
              <a:t>,</a:t>
            </a:r>
            <a:endParaRPr lang="en-US" sz="2400" dirty="0" smtClean="0"/>
          </a:p>
          <a:p>
            <a:pPr>
              <a:buNone/>
            </a:pPr>
            <a:r>
              <a:rPr lang="en-US" sz="2400" dirty="0" smtClean="0"/>
              <a:t>     "To manage is to forecast and to plan, to organize, to command, to co-ordinate and to control."</a:t>
            </a:r>
          </a:p>
          <a:p>
            <a:pPr>
              <a:buNone/>
            </a:pPr>
            <a:r>
              <a:rPr lang="en-US" sz="2400" dirty="0" smtClean="0"/>
              <a:t>	Henri </a:t>
            </a:r>
            <a:r>
              <a:rPr lang="en-US" sz="2400" dirty="0" err="1" smtClean="0"/>
              <a:t>Fayol</a:t>
            </a:r>
            <a:r>
              <a:rPr lang="en-US" sz="2400" dirty="0" smtClean="0"/>
              <a:t> gave this definition of management in his book "Industrial and General Administration".</a:t>
            </a:r>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lnSpcReduction="10000"/>
          </a:bodyPr>
          <a:lstStyle/>
          <a:p>
            <a:pPr algn="ctr">
              <a:buNone/>
            </a:pPr>
            <a:r>
              <a:rPr lang="en-GB" sz="2800" dirty="0" smtClean="0"/>
              <a:t>Definitions of Management</a:t>
            </a:r>
          </a:p>
          <a:p>
            <a:pPr algn="ctr">
              <a:buNone/>
            </a:pPr>
            <a:endParaRPr lang="en-GB" sz="2400" dirty="0" smtClean="0"/>
          </a:p>
          <a:p>
            <a:r>
              <a:rPr lang="en-US" sz="1800" dirty="0" smtClean="0"/>
              <a:t>	</a:t>
            </a:r>
            <a:r>
              <a:rPr lang="en-US" b="1" dirty="0" smtClean="0"/>
              <a:t>Key Elements:</a:t>
            </a:r>
            <a:endParaRPr lang="en-US" sz="2800" dirty="0" smtClean="0"/>
          </a:p>
          <a:p>
            <a:pPr lvl="0"/>
            <a:r>
              <a:rPr lang="en-US" b="1" dirty="0" smtClean="0"/>
              <a:t>Goals:</a:t>
            </a:r>
            <a:r>
              <a:rPr lang="en-US" dirty="0" smtClean="0"/>
              <a:t> Every management effort has a target. (e.g., A </a:t>
            </a:r>
            <a:r>
              <a:rPr lang="en-US" b="1" dirty="0" smtClean="0"/>
              <a:t>Gram </a:t>
            </a:r>
            <a:r>
              <a:rPr lang="en-US" b="1" dirty="0" err="1" smtClean="0"/>
              <a:t>Panchayat</a:t>
            </a:r>
            <a:r>
              <a:rPr lang="en-US" dirty="0" smtClean="0"/>
              <a:t> aims to build a concrete path in 3 months).</a:t>
            </a:r>
            <a:endParaRPr lang="en-US" sz="2800" dirty="0" smtClean="0"/>
          </a:p>
          <a:p>
            <a:pPr lvl="0"/>
            <a:r>
              <a:rPr lang="en-US" b="1" dirty="0" smtClean="0"/>
              <a:t>Resources:</a:t>
            </a:r>
            <a:r>
              <a:rPr lang="en-US" dirty="0" smtClean="0"/>
              <a:t> Men (Workforce), Money (Budget), Material (Cement/Sand), Machine (Mixers), Methods.</a:t>
            </a:r>
            <a:endParaRPr lang="en-US" sz="2800" dirty="0" smtClean="0"/>
          </a:p>
          <a:p>
            <a:pPr lvl="0"/>
            <a:r>
              <a:rPr lang="en-US" b="1" dirty="0" smtClean="0"/>
              <a:t>Process:</a:t>
            </a:r>
            <a:r>
              <a:rPr lang="en-US" dirty="0" smtClean="0"/>
              <a:t> It is continuous, not a one-time act.</a:t>
            </a:r>
            <a:endParaRPr lang="en-US" sz="28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2786082"/>
          </a:xfrm>
        </p:spPr>
        <p:txBody>
          <a:bodyPr>
            <a:normAutofit fontScale="92500" lnSpcReduction="20000"/>
          </a:bodyPr>
          <a:lstStyle/>
          <a:p>
            <a:pPr algn="ctr" fontAlgn="base">
              <a:buNone/>
            </a:pPr>
            <a:r>
              <a:rPr lang="en-US" sz="2800" dirty="0" smtClean="0"/>
              <a:t>Concept of Management</a:t>
            </a:r>
          </a:p>
          <a:p>
            <a:pPr algn="ctr">
              <a:buNone/>
            </a:pPr>
            <a:endParaRPr lang="en-GB" sz="2400" dirty="0" smtClean="0"/>
          </a:p>
          <a:p>
            <a:pPr>
              <a:buNone/>
            </a:pPr>
            <a:r>
              <a:rPr lang="en-US" sz="2600" dirty="0" smtClean="0"/>
              <a:t>	</a:t>
            </a:r>
            <a:r>
              <a:rPr lang="en-US" sz="3500" dirty="0" smtClean="0"/>
              <a:t>One way to analyze management is to think in terms of what a manager does. Using this approach, we can arrive at the management process which describes the work of any manager.</a:t>
            </a:r>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fontScale="92500" lnSpcReduction="10000"/>
          </a:bodyPr>
          <a:lstStyle/>
          <a:p>
            <a:pPr algn="ctr" fontAlgn="base">
              <a:buNone/>
            </a:pPr>
            <a:r>
              <a:rPr lang="en-US" sz="2800" dirty="0" smtClean="0"/>
              <a:t>Concept of Management</a:t>
            </a:r>
          </a:p>
          <a:p>
            <a:pPr algn="ctr">
              <a:buNone/>
            </a:pPr>
            <a:endParaRPr lang="en-GB" sz="2400" dirty="0" smtClean="0"/>
          </a:p>
          <a:p>
            <a:r>
              <a:rPr lang="en-US" sz="1800" dirty="0" smtClean="0"/>
              <a:t>	</a:t>
            </a:r>
            <a:r>
              <a:rPr lang="en-US" b="1" dirty="0" smtClean="0"/>
              <a:t>Management vs. Administration:</a:t>
            </a:r>
            <a:endParaRPr lang="en-US" sz="2800" dirty="0" smtClean="0"/>
          </a:p>
          <a:p>
            <a:pPr lvl="0"/>
            <a:r>
              <a:rPr lang="en-US" b="1" dirty="0" smtClean="0"/>
              <a:t>Administration (The Brain):</a:t>
            </a:r>
            <a:r>
              <a:rPr lang="en-US" dirty="0" smtClean="0"/>
              <a:t> Sets the policies and objectives.</a:t>
            </a:r>
            <a:endParaRPr lang="en-US" sz="2800" dirty="0" smtClean="0"/>
          </a:p>
          <a:p>
            <a:pPr lvl="1"/>
            <a:r>
              <a:rPr lang="en-US" i="1" dirty="0" smtClean="0"/>
              <a:t>Example:</a:t>
            </a:r>
            <a:r>
              <a:rPr lang="en-US" dirty="0" smtClean="0"/>
              <a:t> The </a:t>
            </a:r>
            <a:r>
              <a:rPr lang="en-US" b="1" dirty="0" smtClean="0"/>
              <a:t>HP State Government</a:t>
            </a:r>
            <a:r>
              <a:rPr lang="en-US" dirty="0" smtClean="0"/>
              <a:t> decides to build a new medical college in </a:t>
            </a:r>
            <a:r>
              <a:rPr lang="en-US" dirty="0" err="1" smtClean="0"/>
              <a:t>Hamirpur</a:t>
            </a:r>
            <a:r>
              <a:rPr lang="en-US" dirty="0" smtClean="0"/>
              <a:t>. This is Administration.</a:t>
            </a:r>
            <a:endParaRPr lang="en-US" sz="2400" dirty="0" smtClean="0"/>
          </a:p>
          <a:p>
            <a:pPr lvl="0"/>
            <a:r>
              <a:rPr lang="en-US" b="1" dirty="0" smtClean="0"/>
              <a:t>Management (The Hands):</a:t>
            </a:r>
            <a:r>
              <a:rPr lang="en-US" dirty="0" smtClean="0"/>
              <a:t> Executes the policy.</a:t>
            </a:r>
            <a:endParaRPr lang="en-US" sz="2800" dirty="0" smtClean="0"/>
          </a:p>
          <a:p>
            <a:pPr lvl="1"/>
            <a:r>
              <a:rPr lang="en-US" i="1" dirty="0" smtClean="0"/>
              <a:t>Example:</a:t>
            </a:r>
            <a:r>
              <a:rPr lang="en-US" dirty="0" smtClean="0"/>
              <a:t> The </a:t>
            </a:r>
            <a:r>
              <a:rPr lang="en-US" b="1" dirty="0" smtClean="0"/>
              <a:t>Project Manager</a:t>
            </a:r>
            <a:r>
              <a:rPr lang="en-US" dirty="0" smtClean="0"/>
              <a:t> and engineers at the construction site ensuring the college is built on time. This is Management.</a:t>
            </a:r>
            <a:endParaRPr lang="en-US" sz="24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a:bodyPr>
          <a:lstStyle/>
          <a:p>
            <a:pPr algn="ctr" fontAlgn="base">
              <a:buNone/>
            </a:pPr>
            <a:r>
              <a:rPr lang="en-US" sz="2800" dirty="0" smtClean="0"/>
              <a:t>Concept of Management</a:t>
            </a:r>
          </a:p>
          <a:p>
            <a:pPr algn="ctr">
              <a:buNone/>
            </a:pPr>
            <a:endParaRPr lang="en-GB" sz="2400" dirty="0" smtClean="0"/>
          </a:p>
          <a:p>
            <a:r>
              <a:rPr lang="en-US" b="1" dirty="0" smtClean="0"/>
              <a:t>Activity: "The Village Fair"</a:t>
            </a:r>
            <a:endParaRPr lang="en-US" sz="2400" dirty="0" smtClean="0"/>
          </a:p>
          <a:p>
            <a:pPr lvl="0"/>
            <a:r>
              <a:rPr lang="en-US" b="1" dirty="0" smtClean="0"/>
              <a:t>Scenario:</a:t>
            </a:r>
            <a:r>
              <a:rPr lang="en-US" dirty="0" smtClean="0"/>
              <a:t> Your village is organizing a “</a:t>
            </a:r>
            <a:r>
              <a:rPr lang="en-US" dirty="0" err="1" smtClean="0"/>
              <a:t>Devta</a:t>
            </a:r>
            <a:r>
              <a:rPr lang="en-US" dirty="0" smtClean="0"/>
              <a:t> </a:t>
            </a:r>
            <a:r>
              <a:rPr lang="en-US" dirty="0" err="1" smtClean="0"/>
              <a:t>Mela</a:t>
            </a:r>
            <a:r>
              <a:rPr lang="en-US" dirty="0" smtClean="0"/>
              <a:t>".</a:t>
            </a:r>
            <a:endParaRPr lang="en-US" sz="2800" dirty="0" smtClean="0"/>
          </a:p>
          <a:p>
            <a:pPr lvl="0"/>
            <a:r>
              <a:rPr lang="en-US" b="1" dirty="0" smtClean="0"/>
              <a:t>Discussion:</a:t>
            </a:r>
            <a:r>
              <a:rPr lang="en-US" dirty="0" smtClean="0"/>
              <a:t> Who is the Administrator? (The Temple Committee/</a:t>
            </a:r>
            <a:r>
              <a:rPr lang="en-US" dirty="0" err="1" smtClean="0"/>
              <a:t>Panchayat</a:t>
            </a:r>
            <a:r>
              <a:rPr lang="en-US" dirty="0" smtClean="0"/>
              <a:t> deciding the date). Who is the Manager? (The youth club head organizing the stalls and traffic).</a:t>
            </a:r>
            <a:endParaRPr lang="en-US" sz="28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lnSpcReduction="10000"/>
          </a:bodyPr>
          <a:lstStyle/>
          <a:p>
            <a:pPr algn="ctr" fontAlgn="base">
              <a:buNone/>
            </a:pPr>
            <a:r>
              <a:rPr lang="en-US" sz="2800" dirty="0" smtClean="0"/>
              <a:t>Concept of Management</a:t>
            </a:r>
          </a:p>
          <a:p>
            <a:pPr algn="ctr">
              <a:buNone/>
            </a:pPr>
            <a:endParaRPr lang="en-GB" sz="2400" dirty="0" smtClean="0"/>
          </a:p>
          <a:p>
            <a:r>
              <a:rPr lang="en-US" b="1" dirty="0" smtClean="0"/>
              <a:t>Nature of Management:</a:t>
            </a:r>
            <a:endParaRPr lang="en-US" dirty="0" smtClean="0"/>
          </a:p>
          <a:p>
            <a:pPr lvl="0"/>
            <a:r>
              <a:rPr lang="en-US" b="1" dirty="0" smtClean="0"/>
              <a:t>As a Science:</a:t>
            </a:r>
            <a:r>
              <a:rPr lang="en-US" dirty="0" smtClean="0"/>
              <a:t> It has fixed principles. (e.g., If you pay workers fair wages, motivation increases. This is a tested principle).</a:t>
            </a:r>
          </a:p>
          <a:p>
            <a:pPr lvl="0"/>
            <a:r>
              <a:rPr lang="en-US" b="1" dirty="0" smtClean="0"/>
              <a:t>As an Art:</a:t>
            </a:r>
            <a:r>
              <a:rPr lang="en-US" dirty="0" smtClean="0"/>
              <a:t> It requires personal skill. (e.g., Handling a strike in the </a:t>
            </a:r>
            <a:r>
              <a:rPr lang="en-US" b="1" dirty="0" err="1" smtClean="0"/>
              <a:t>Barmana</a:t>
            </a:r>
            <a:r>
              <a:rPr lang="en-US" b="1" dirty="0" smtClean="0"/>
              <a:t> Cement Plant</a:t>
            </a:r>
            <a:r>
              <a:rPr lang="en-US" dirty="0" smtClean="0"/>
              <a:t> requires negotiation skills that come from experience, not just books).</a:t>
            </a:r>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lnSpcReduction="10000"/>
          </a:bodyPr>
          <a:lstStyle/>
          <a:p>
            <a:pPr algn="ctr" fontAlgn="base">
              <a:buNone/>
            </a:pPr>
            <a:r>
              <a:rPr lang="en-US" sz="2800" dirty="0" smtClean="0"/>
              <a:t>Concept of Management</a:t>
            </a:r>
          </a:p>
          <a:p>
            <a:pPr algn="ctr">
              <a:buNone/>
            </a:pPr>
            <a:endParaRPr lang="en-GB" sz="2400" dirty="0" smtClean="0"/>
          </a:p>
          <a:p>
            <a:r>
              <a:rPr lang="en-US" b="1" dirty="0" smtClean="0"/>
              <a:t>Characteristics:</a:t>
            </a:r>
            <a:endParaRPr lang="en-US" dirty="0" smtClean="0"/>
          </a:p>
          <a:p>
            <a:pPr lvl="0"/>
            <a:r>
              <a:rPr lang="en-US" b="1" dirty="0" smtClean="0"/>
              <a:t>Universal:</a:t>
            </a:r>
            <a:r>
              <a:rPr lang="en-US" dirty="0" smtClean="0"/>
              <a:t> Management applies everywhere—from a shop in </a:t>
            </a:r>
            <a:r>
              <a:rPr lang="en-US" b="1" dirty="0" smtClean="0"/>
              <a:t>Mall Road </a:t>
            </a:r>
            <a:r>
              <a:rPr lang="en-US" b="1" dirty="0" err="1" smtClean="0"/>
              <a:t>Shimla</a:t>
            </a:r>
            <a:r>
              <a:rPr lang="en-US" dirty="0" smtClean="0"/>
              <a:t> to the </a:t>
            </a:r>
            <a:r>
              <a:rPr lang="en-US" b="1" dirty="0" smtClean="0"/>
              <a:t>HRTC Bus Depot</a:t>
            </a:r>
            <a:r>
              <a:rPr lang="en-US" dirty="0" smtClean="0"/>
              <a:t>.</a:t>
            </a:r>
          </a:p>
          <a:p>
            <a:pPr lvl="0"/>
            <a:r>
              <a:rPr lang="en-US" b="1" dirty="0" smtClean="0"/>
              <a:t>Goal-Oriented:</a:t>
            </a:r>
            <a:r>
              <a:rPr lang="en-US" dirty="0" smtClean="0"/>
              <a:t> Without a goal, management is useless.</a:t>
            </a:r>
          </a:p>
          <a:p>
            <a:pPr lvl="0"/>
            <a:r>
              <a:rPr lang="en-US" b="1" dirty="0" smtClean="0"/>
              <a:t>Continuous:</a:t>
            </a:r>
            <a:r>
              <a:rPr lang="en-US" dirty="0" smtClean="0"/>
              <a:t> It never stops. Once the apple harvest is managed, the pruning management begins.</a:t>
            </a:r>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a:bodyPr>
          <a:lstStyle/>
          <a:p>
            <a:pPr algn="ctr" fontAlgn="base">
              <a:buNone/>
            </a:pPr>
            <a:r>
              <a:rPr lang="en-US" sz="2800" dirty="0" smtClean="0"/>
              <a:t>Levels and Roles of Management</a:t>
            </a:r>
            <a:endParaRPr lang="en-GB" sz="2400" dirty="0" smtClean="0"/>
          </a:p>
          <a:p>
            <a:r>
              <a:rPr lang="en-US" b="1" dirty="0" smtClean="0"/>
              <a:t>The Hierarchy (The Pyramid):</a:t>
            </a:r>
            <a:endParaRPr lang="en-US" sz="2800" dirty="0" smtClean="0"/>
          </a:p>
          <a:p>
            <a:pPr lvl="0"/>
            <a:r>
              <a:rPr lang="en-US" b="1" dirty="0" smtClean="0"/>
              <a:t>Top Level:</a:t>
            </a:r>
            <a:r>
              <a:rPr lang="en-US" dirty="0" smtClean="0"/>
              <a:t> Board of Directors, CEO, MD.</a:t>
            </a:r>
            <a:endParaRPr lang="en-US" sz="2800" dirty="0" smtClean="0"/>
          </a:p>
          <a:p>
            <a:pPr lvl="1"/>
            <a:r>
              <a:rPr lang="en-US" i="1" dirty="0" smtClean="0"/>
              <a:t>Role:</a:t>
            </a:r>
            <a:r>
              <a:rPr lang="en-US" dirty="0" smtClean="0"/>
              <a:t> Vision and Policy.</a:t>
            </a:r>
            <a:endParaRPr lang="en-US" sz="2400" dirty="0" smtClean="0"/>
          </a:p>
          <a:p>
            <a:pPr lvl="1"/>
            <a:r>
              <a:rPr lang="en-US" i="1" dirty="0" smtClean="0"/>
              <a:t>Example:</a:t>
            </a:r>
            <a:r>
              <a:rPr lang="en-US" dirty="0" smtClean="0"/>
              <a:t> The </a:t>
            </a:r>
            <a:r>
              <a:rPr lang="en-US" b="1" dirty="0" smtClean="0"/>
              <a:t>Managing Director of HPSEB</a:t>
            </a:r>
            <a:r>
              <a:rPr lang="en-US" dirty="0" smtClean="0"/>
              <a:t> (Electricity Board) sitting in </a:t>
            </a:r>
            <a:r>
              <a:rPr lang="en-US" dirty="0" err="1" smtClean="0"/>
              <a:t>Shimla</a:t>
            </a:r>
            <a:r>
              <a:rPr lang="en-US" dirty="0" smtClean="0"/>
              <a:t>. He decides "We will electrify 100% of remote villages.“</a:t>
            </a:r>
            <a:endParaRPr lang="en-US" sz="24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fontScale="92500"/>
          </a:bodyPr>
          <a:lstStyle/>
          <a:p>
            <a:pPr algn="ctr" fontAlgn="base">
              <a:buNone/>
            </a:pPr>
            <a:r>
              <a:rPr lang="en-US" sz="2800" dirty="0" smtClean="0"/>
              <a:t>Levels and Roles of Management</a:t>
            </a:r>
            <a:endParaRPr lang="en-GB" sz="2400" dirty="0" smtClean="0"/>
          </a:p>
          <a:p>
            <a:pPr algn="ctr">
              <a:buNone/>
            </a:pPr>
            <a:endParaRPr lang="en-GB" sz="2400" dirty="0" smtClean="0"/>
          </a:p>
          <a:p>
            <a:pPr lvl="0"/>
            <a:r>
              <a:rPr lang="en-US" b="1" dirty="0" smtClean="0"/>
              <a:t>Middle Level:</a:t>
            </a:r>
            <a:r>
              <a:rPr lang="en-US" dirty="0" smtClean="0"/>
              <a:t> Department Heads, XEN (Executive Engineers).</a:t>
            </a:r>
            <a:endParaRPr lang="en-US" sz="2800" dirty="0" smtClean="0"/>
          </a:p>
          <a:p>
            <a:pPr lvl="1"/>
            <a:r>
              <a:rPr lang="en-US" i="1" dirty="0" smtClean="0"/>
              <a:t>Role:</a:t>
            </a:r>
            <a:r>
              <a:rPr lang="en-US" dirty="0" smtClean="0"/>
              <a:t> Execution and Coordination.</a:t>
            </a:r>
            <a:endParaRPr lang="en-US" sz="2400" dirty="0" smtClean="0"/>
          </a:p>
          <a:p>
            <a:pPr lvl="1"/>
            <a:r>
              <a:rPr lang="en-US" i="1" dirty="0" smtClean="0"/>
              <a:t>Example:</a:t>
            </a:r>
            <a:r>
              <a:rPr lang="en-US" dirty="0" smtClean="0"/>
              <a:t> The </a:t>
            </a:r>
            <a:r>
              <a:rPr lang="en-US" b="1" dirty="0" smtClean="0"/>
              <a:t>XEN</a:t>
            </a:r>
            <a:r>
              <a:rPr lang="en-US" dirty="0" smtClean="0"/>
              <a:t> in </a:t>
            </a:r>
            <a:r>
              <a:rPr lang="en-US" dirty="0" err="1" smtClean="0"/>
              <a:t>Mandi</a:t>
            </a:r>
            <a:r>
              <a:rPr lang="en-US" dirty="0" smtClean="0"/>
              <a:t> district. He receives the order and instructs the SDOs.</a:t>
            </a:r>
            <a:endParaRPr lang="en-US" sz="2400" dirty="0" smtClean="0"/>
          </a:p>
          <a:p>
            <a:pPr lvl="0"/>
            <a:r>
              <a:rPr lang="en-US" b="1" dirty="0" smtClean="0"/>
              <a:t>Lower Level:</a:t>
            </a:r>
            <a:r>
              <a:rPr lang="en-US" dirty="0" smtClean="0"/>
              <a:t> Supervisors, Junior Engineers (JE), Foremen.</a:t>
            </a:r>
            <a:endParaRPr lang="en-US" sz="2800" dirty="0" smtClean="0"/>
          </a:p>
          <a:p>
            <a:pPr lvl="1"/>
            <a:r>
              <a:rPr lang="en-US" i="1" dirty="0" smtClean="0"/>
              <a:t>Role:</a:t>
            </a:r>
            <a:r>
              <a:rPr lang="en-US" dirty="0" smtClean="0"/>
              <a:t> Direct supervision of work.</a:t>
            </a:r>
            <a:endParaRPr lang="en-US" sz="2400" dirty="0" smtClean="0"/>
          </a:p>
          <a:p>
            <a:pPr lvl="1"/>
            <a:r>
              <a:rPr lang="en-US" i="1" dirty="0" smtClean="0"/>
              <a:t>Example :</a:t>
            </a:r>
            <a:r>
              <a:rPr lang="en-US" dirty="0" smtClean="0"/>
              <a:t> </a:t>
            </a:r>
            <a:r>
              <a:rPr lang="en-US" b="1" dirty="0" smtClean="0"/>
              <a:t>You (The JE)</a:t>
            </a:r>
            <a:r>
              <a:rPr lang="en-US" dirty="0" smtClean="0"/>
              <a:t> standing in the village ensuring the poles are erected correctly.</a:t>
            </a:r>
            <a:endParaRPr lang="en-US" sz="24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fontScale="92500" lnSpcReduction="10000"/>
          </a:bodyPr>
          <a:lstStyle/>
          <a:p>
            <a:pPr algn="ctr" fontAlgn="base">
              <a:buNone/>
            </a:pPr>
            <a:r>
              <a:rPr lang="en-US" sz="2800" dirty="0" smtClean="0"/>
              <a:t>Principles of Management </a:t>
            </a:r>
          </a:p>
          <a:p>
            <a:pPr algn="ctr" fontAlgn="base">
              <a:buNone/>
            </a:pPr>
            <a:endParaRPr lang="en-GB" sz="2400" dirty="0" smtClean="0"/>
          </a:p>
          <a:p>
            <a:pPr>
              <a:buNone/>
            </a:pPr>
            <a:r>
              <a:rPr lang="en-US" b="1" dirty="0" smtClean="0"/>
              <a:t>Henry </a:t>
            </a:r>
            <a:r>
              <a:rPr lang="en-US" b="1" dirty="0" err="1" smtClean="0"/>
              <a:t>Fayol’s</a:t>
            </a:r>
            <a:r>
              <a:rPr lang="en-US" b="1" dirty="0" smtClean="0"/>
              <a:t>  Principles :</a:t>
            </a:r>
            <a:endParaRPr lang="en-US" sz="2800" dirty="0" smtClean="0"/>
          </a:p>
          <a:p>
            <a:pPr lvl="0"/>
            <a:r>
              <a:rPr lang="en-US" b="1" dirty="0" smtClean="0"/>
              <a:t>Division of Work:</a:t>
            </a:r>
            <a:r>
              <a:rPr lang="en-US" dirty="0" smtClean="0"/>
              <a:t> Specialization increases efficiency.</a:t>
            </a:r>
            <a:endParaRPr lang="en-US" sz="2800" dirty="0" smtClean="0"/>
          </a:p>
          <a:p>
            <a:pPr lvl="1"/>
            <a:r>
              <a:rPr lang="en-US" i="1" dirty="0" smtClean="0"/>
              <a:t>Example:</a:t>
            </a:r>
            <a:r>
              <a:rPr lang="en-US" dirty="0" smtClean="0"/>
              <a:t> In an apple orchard, one group </a:t>
            </a:r>
            <a:r>
              <a:rPr lang="en-US" i="1" dirty="0" smtClean="0"/>
              <a:t>picks</a:t>
            </a:r>
            <a:r>
              <a:rPr lang="en-US" dirty="0" smtClean="0"/>
              <a:t> apples, another </a:t>
            </a:r>
            <a:r>
              <a:rPr lang="en-US" i="1" dirty="0" smtClean="0"/>
              <a:t>grades</a:t>
            </a:r>
            <a:r>
              <a:rPr lang="en-US" dirty="0" smtClean="0"/>
              <a:t> them, and the third </a:t>
            </a:r>
            <a:r>
              <a:rPr lang="en-US" i="1" dirty="0" smtClean="0"/>
              <a:t>packs</a:t>
            </a:r>
            <a:r>
              <a:rPr lang="en-US" dirty="0" smtClean="0"/>
              <a:t> them. If one person does all three, speed drops.</a:t>
            </a:r>
            <a:endParaRPr lang="en-US" sz="2400" dirty="0" smtClean="0"/>
          </a:p>
          <a:p>
            <a:pPr lvl="0"/>
            <a:r>
              <a:rPr lang="en-US" b="1" dirty="0" smtClean="0"/>
              <a:t>Unity of Command:</a:t>
            </a:r>
            <a:r>
              <a:rPr lang="en-US" dirty="0" smtClean="0"/>
              <a:t> One employee should have only one boss.</a:t>
            </a:r>
            <a:endParaRPr lang="en-US" sz="2800" dirty="0" smtClean="0"/>
          </a:p>
          <a:p>
            <a:pPr lvl="1"/>
            <a:r>
              <a:rPr lang="en-US" i="1" dirty="0" smtClean="0"/>
              <a:t>Example:</a:t>
            </a:r>
            <a:r>
              <a:rPr lang="en-US" dirty="0" smtClean="0"/>
              <a:t> If a worker gets orders from the Contractor and the JE simultaneously, and the orders conflict, the work stops.</a:t>
            </a:r>
            <a:endParaRPr lang="en-US" sz="24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5572164"/>
          </a:xfrm>
        </p:spPr>
        <p:txBody>
          <a:bodyPr>
            <a:normAutofit fontScale="92500" lnSpcReduction="10000"/>
          </a:bodyPr>
          <a:lstStyle/>
          <a:p>
            <a:pPr algn="ctr" fontAlgn="base">
              <a:buNone/>
            </a:pPr>
            <a:r>
              <a:rPr lang="en-US" sz="2800" dirty="0" smtClean="0"/>
              <a:t>Principles of Management </a:t>
            </a:r>
          </a:p>
          <a:p>
            <a:pPr algn="ctr" fontAlgn="base">
              <a:buNone/>
            </a:pPr>
            <a:endParaRPr lang="en-GB" sz="2400" dirty="0" smtClean="0"/>
          </a:p>
          <a:p>
            <a:pPr>
              <a:buNone/>
            </a:pPr>
            <a:r>
              <a:rPr lang="en-US" b="1" dirty="0" smtClean="0"/>
              <a:t>Henry </a:t>
            </a:r>
            <a:r>
              <a:rPr lang="en-US" b="1" dirty="0" err="1" smtClean="0"/>
              <a:t>Fayol’s</a:t>
            </a:r>
            <a:r>
              <a:rPr lang="en-US" b="1" dirty="0" smtClean="0"/>
              <a:t> 14 Principles :</a:t>
            </a:r>
            <a:endParaRPr lang="en-US" sz="2800" dirty="0" smtClean="0"/>
          </a:p>
          <a:p>
            <a:pPr lvl="0"/>
            <a:r>
              <a:rPr lang="en-US" b="1" dirty="0" smtClean="0"/>
              <a:t>Authority &amp; Responsibility:</a:t>
            </a:r>
            <a:r>
              <a:rPr lang="en-US" dirty="0" smtClean="0"/>
              <a:t> If you give a person responsibility, you must give them authority.</a:t>
            </a:r>
            <a:endParaRPr lang="en-US" sz="2800" dirty="0" smtClean="0"/>
          </a:p>
          <a:p>
            <a:pPr lvl="1"/>
            <a:r>
              <a:rPr lang="en-US" i="1" dirty="0" smtClean="0"/>
              <a:t>Example:</a:t>
            </a:r>
            <a:r>
              <a:rPr lang="en-US" dirty="0" smtClean="0"/>
              <a:t> You are responsible for fixing a fault, but you don't have the authority to issue spare parts from the store. You cannot succeed.</a:t>
            </a:r>
            <a:endParaRPr lang="en-US" sz="2400" dirty="0" smtClean="0"/>
          </a:p>
          <a:p>
            <a:pPr lvl="0"/>
            <a:r>
              <a:rPr lang="en-US" b="1" dirty="0" smtClean="0"/>
              <a:t>Discipline:</a:t>
            </a:r>
            <a:r>
              <a:rPr lang="en-US" dirty="0" smtClean="0"/>
              <a:t> Essential for safety, especially in industries like Hydro Projects.</a:t>
            </a:r>
            <a:endParaRPr lang="en-US" sz="2800" dirty="0" smtClean="0"/>
          </a:p>
          <a:p>
            <a:pPr lvl="0"/>
            <a:r>
              <a:rPr lang="en-US" b="1" dirty="0" smtClean="0"/>
              <a:t>Esprit de Corps:</a:t>
            </a:r>
            <a:r>
              <a:rPr lang="en-US" dirty="0" smtClean="0"/>
              <a:t> Team Spirit. "Union is Strength."</a:t>
            </a:r>
            <a:endParaRPr lang="en-US" sz="2800" dirty="0" smtClean="0"/>
          </a:p>
          <a:p>
            <a:pPr>
              <a:buNone/>
            </a:pPr>
            <a:endParaRPr lang="en-US" sz="2400" dirty="0" smtClean="0"/>
          </a:p>
          <a:p>
            <a:endParaRPr lang="en-US" sz="1800" dirty="0" smtClean="0"/>
          </a:p>
          <a:p>
            <a:pPr>
              <a:buNone/>
            </a:pPr>
            <a:endParaRPr lang="en-US" sz="1800" dirty="0" smtClean="0"/>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pic>
        <p:nvPicPr>
          <p:cNvPr id="6" name="Picture 5" descr="bom.png"/>
          <p:cNvPicPr>
            <a:picLocks noChangeAspect="1"/>
          </p:cNvPicPr>
          <p:nvPr/>
        </p:nvPicPr>
        <p:blipFill>
          <a:blip r:embed="rId3"/>
          <a:stretch>
            <a:fillRect/>
          </a:stretch>
        </p:blipFill>
        <p:spPr>
          <a:xfrm>
            <a:off x="3000364" y="4799990"/>
            <a:ext cx="3224652" cy="2058010"/>
          </a:xfrm>
          <a:prstGeom prst="rect">
            <a:avLst/>
          </a:prstGeom>
        </p:spPr>
      </p:pic>
      <p:sp>
        <p:nvSpPr>
          <p:cNvPr id="10" name="TextBox 9"/>
          <p:cNvSpPr txBox="1"/>
          <p:nvPr/>
        </p:nvSpPr>
        <p:spPr>
          <a:xfrm>
            <a:off x="1214414" y="1928802"/>
            <a:ext cx="7500990" cy="3139321"/>
          </a:xfrm>
          <a:prstGeom prst="rect">
            <a:avLst/>
          </a:prstGeom>
          <a:noFill/>
        </p:spPr>
        <p:txBody>
          <a:bodyPr wrap="square" rtlCol="0">
            <a:spAutoFit/>
          </a:bodyPr>
          <a:lstStyle/>
          <a:p>
            <a:r>
              <a:rPr lang="en-US" sz="2000" b="1" dirty="0" smtClean="0"/>
              <a:t>The Management Cycle (P-O-S-C-C):</a:t>
            </a:r>
          </a:p>
          <a:p>
            <a:endParaRPr lang="en-US" sz="2000" dirty="0" smtClean="0"/>
          </a:p>
          <a:p>
            <a:pPr marL="457200" lvl="0" indent="-457200">
              <a:buFont typeface="+mj-lt"/>
              <a:buAutoNum type="arabicPeriod"/>
            </a:pPr>
            <a:r>
              <a:rPr lang="en-US" sz="2000" b="1" dirty="0" smtClean="0"/>
              <a:t>Planning:</a:t>
            </a:r>
            <a:r>
              <a:rPr lang="en-US" sz="2000" dirty="0" smtClean="0"/>
              <a:t> Deciding in advance </a:t>
            </a:r>
            <a:r>
              <a:rPr lang="en-US" sz="2000" i="1" dirty="0" smtClean="0"/>
              <a:t>what</a:t>
            </a:r>
            <a:r>
              <a:rPr lang="en-US" sz="2000" dirty="0" smtClean="0"/>
              <a:t> to do. (The Blueprint).</a:t>
            </a:r>
          </a:p>
          <a:p>
            <a:pPr marL="457200" lvl="0" indent="-457200">
              <a:buFont typeface="+mj-lt"/>
              <a:buAutoNum type="arabicPeriod"/>
            </a:pPr>
            <a:r>
              <a:rPr lang="en-US" sz="2000" b="1" dirty="0" smtClean="0"/>
              <a:t>Organizing:</a:t>
            </a:r>
            <a:r>
              <a:rPr lang="en-US" sz="2000" dirty="0" smtClean="0"/>
              <a:t> Arranging resources to do it. (The Structure).</a:t>
            </a:r>
          </a:p>
          <a:p>
            <a:pPr marL="457200" lvl="0" indent="-457200">
              <a:buFont typeface="+mj-lt"/>
              <a:buAutoNum type="arabicPeriod"/>
            </a:pPr>
            <a:r>
              <a:rPr lang="en-US" sz="2000" b="1" dirty="0" smtClean="0"/>
              <a:t>Staffing:</a:t>
            </a:r>
            <a:r>
              <a:rPr lang="en-US" sz="2000" dirty="0" smtClean="0"/>
              <a:t> Putting people in the structure. (The Hiring).</a:t>
            </a:r>
          </a:p>
          <a:p>
            <a:pPr marL="457200" lvl="0" indent="-457200">
              <a:buFont typeface="+mj-lt"/>
              <a:buAutoNum type="arabicPeriod"/>
            </a:pPr>
            <a:r>
              <a:rPr lang="en-US" sz="2000" b="1" dirty="0" smtClean="0"/>
              <a:t>Coordinating:</a:t>
            </a:r>
            <a:r>
              <a:rPr lang="en-US" sz="2000" dirty="0" smtClean="0"/>
              <a:t> Ensuring everyone works together. (The Harmony).</a:t>
            </a:r>
          </a:p>
          <a:p>
            <a:pPr marL="457200" lvl="0" indent="-457200">
              <a:buFont typeface="+mj-lt"/>
              <a:buAutoNum type="arabicPeriod"/>
            </a:pPr>
            <a:r>
              <a:rPr lang="en-US" sz="2000" b="1" dirty="0" smtClean="0"/>
              <a:t>Directing &amp; Controlling:</a:t>
            </a:r>
            <a:r>
              <a:rPr lang="en-US" sz="2000" dirty="0" smtClean="0"/>
              <a:t> Checking if things went according to plan. (The Check).</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714488"/>
            <a:ext cx="7631961" cy="5324535"/>
          </a:xfrm>
          <a:prstGeom prst="rect">
            <a:avLst/>
          </a:prstGeom>
          <a:noFill/>
        </p:spPr>
        <p:txBody>
          <a:bodyPr wrap="square" rtlCol="0">
            <a:spAutoFit/>
          </a:bodyPr>
          <a:lstStyle/>
          <a:p>
            <a:r>
              <a:rPr lang="en-US" sz="2800" b="1" dirty="0" smtClean="0"/>
              <a:t>Planning:</a:t>
            </a:r>
            <a:endParaRPr lang="en-US" sz="2800" dirty="0"/>
          </a:p>
          <a:p>
            <a:endParaRPr lang="en-US" dirty="0" smtClean="0"/>
          </a:p>
          <a:p>
            <a:r>
              <a:rPr lang="en-US" sz="2000" dirty="0" smtClean="0"/>
              <a:t>According </a:t>
            </a:r>
            <a:r>
              <a:rPr lang="en-US" sz="2000" dirty="0"/>
              <a:t>to </a:t>
            </a:r>
            <a:r>
              <a:rPr lang="en-US" sz="2000" b="1" dirty="0"/>
              <a:t>KOONTZ</a:t>
            </a:r>
            <a:r>
              <a:rPr lang="en-US" sz="2000" dirty="0" smtClean="0"/>
              <a:t>, </a:t>
            </a:r>
          </a:p>
          <a:p>
            <a:endParaRPr lang="en-US" sz="2000" dirty="0" smtClean="0"/>
          </a:p>
          <a:p>
            <a:r>
              <a:rPr lang="en-US" sz="2000" dirty="0" smtClean="0"/>
              <a:t>	</a:t>
            </a:r>
            <a:r>
              <a:rPr lang="en-US" sz="2400" b="1" i="1" dirty="0" smtClean="0"/>
              <a:t>“</a:t>
            </a:r>
            <a:r>
              <a:rPr lang="en-US" sz="2400" b="1" i="1" dirty="0"/>
              <a:t>Planning is deciding in advance - what to do, when to do &amp; how to do. </a:t>
            </a:r>
            <a:r>
              <a:rPr lang="en-US" sz="2400" b="1" i="1" dirty="0" smtClean="0"/>
              <a:t>It </a:t>
            </a:r>
            <a:r>
              <a:rPr lang="en-US" sz="2400" b="1" i="1" dirty="0"/>
              <a:t>bridges the gap from where we are &amp; where we want to be”</a:t>
            </a:r>
            <a:r>
              <a:rPr lang="en-US" sz="2000" dirty="0"/>
              <a:t>. </a:t>
            </a:r>
            <a:endParaRPr lang="en-US" sz="2000" dirty="0" smtClean="0"/>
          </a:p>
          <a:p>
            <a:endParaRPr lang="en-US" sz="2000" dirty="0" smtClean="0"/>
          </a:p>
          <a:p>
            <a:r>
              <a:rPr lang="en-US" sz="2400" dirty="0" smtClean="0"/>
              <a:t>Planning </a:t>
            </a:r>
            <a:r>
              <a:rPr lang="en-US" sz="2400" dirty="0"/>
              <a:t>is determination of courses of action to achieve desired goals. </a:t>
            </a:r>
            <a:r>
              <a:rPr lang="en-US" sz="2400" dirty="0" smtClean="0"/>
              <a:t>Thus</a:t>
            </a:r>
            <a:r>
              <a:rPr lang="en-US" sz="2400" dirty="0"/>
              <a:t>, planning is a systematic thinking about ways &amp; means for </a:t>
            </a:r>
            <a:r>
              <a:rPr lang="en-US" sz="2400" dirty="0" smtClean="0"/>
              <a:t>accomplishment </a:t>
            </a:r>
            <a:r>
              <a:rPr lang="en-US" sz="2400" dirty="0"/>
              <a:t>of pre-determined goals. </a:t>
            </a:r>
            <a:endParaRPr lang="en-US" sz="2400" dirty="0" smtClean="0"/>
          </a:p>
          <a:p>
            <a:endParaRPr lang="en-US" sz="2400" dirty="0" smtClean="0"/>
          </a:p>
          <a:p>
            <a:r>
              <a:rPr lang="en-US" sz="2400" dirty="0" smtClean="0"/>
              <a:t>Planning helps </a:t>
            </a:r>
            <a:r>
              <a:rPr lang="en-US" sz="2400" dirty="0"/>
              <a:t>in avoiding confusion, uncertainties, risks, wastages etc.</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785926"/>
            <a:ext cx="7631961" cy="3816429"/>
          </a:xfrm>
          <a:prstGeom prst="rect">
            <a:avLst/>
          </a:prstGeom>
          <a:noFill/>
        </p:spPr>
        <p:txBody>
          <a:bodyPr wrap="square" rtlCol="0">
            <a:spAutoFit/>
          </a:bodyPr>
          <a:lstStyle/>
          <a:p>
            <a:r>
              <a:rPr lang="en-US" sz="2400" b="1" dirty="0" smtClean="0"/>
              <a:t>Planning:</a:t>
            </a:r>
            <a:endParaRPr lang="en-US" sz="2400" dirty="0"/>
          </a:p>
          <a:p>
            <a:endParaRPr lang="en-US" sz="1600" dirty="0" smtClean="0"/>
          </a:p>
          <a:p>
            <a:r>
              <a:rPr lang="en-US" sz="2000" b="1" dirty="0" smtClean="0"/>
              <a:t>Types of Plans:-</a:t>
            </a:r>
          </a:p>
          <a:p>
            <a:endParaRPr lang="en-US" sz="2000" dirty="0" smtClean="0"/>
          </a:p>
          <a:p>
            <a:pPr lvl="0"/>
            <a:r>
              <a:rPr lang="en-US" sz="2400" b="1" dirty="0" smtClean="0"/>
              <a:t>Rule:</a:t>
            </a:r>
            <a:r>
              <a:rPr lang="en-US" sz="2400" dirty="0" smtClean="0"/>
              <a:t> Strict guide. </a:t>
            </a:r>
            <a:r>
              <a:rPr lang="en-US" sz="2400" i="1" dirty="0" smtClean="0"/>
              <a:t>Ex: "No Smoking in a public place“.</a:t>
            </a:r>
            <a:endParaRPr lang="en-US" sz="2400" dirty="0" smtClean="0"/>
          </a:p>
          <a:p>
            <a:pPr lvl="0"/>
            <a:r>
              <a:rPr lang="en-US" sz="2400" b="1" dirty="0" smtClean="0"/>
              <a:t>Procedure:</a:t>
            </a:r>
            <a:r>
              <a:rPr lang="en-US" sz="2400" dirty="0" smtClean="0"/>
              <a:t> Chronological steps. </a:t>
            </a:r>
            <a:r>
              <a:rPr lang="en-US" sz="2400" i="1" dirty="0" smtClean="0"/>
              <a:t>Ex: Procedure to apply for a Driving License in HP.</a:t>
            </a:r>
            <a:endParaRPr lang="en-US" sz="2400" dirty="0" smtClean="0"/>
          </a:p>
          <a:p>
            <a:pPr lvl="0"/>
            <a:r>
              <a:rPr lang="en-US" sz="2400" b="1" dirty="0" smtClean="0"/>
              <a:t>Budget:</a:t>
            </a:r>
            <a:r>
              <a:rPr lang="en-US" sz="2400" dirty="0" smtClean="0"/>
              <a:t> Statement of expected results in numbers/rupees. </a:t>
            </a:r>
            <a:r>
              <a:rPr lang="en-US" sz="2400" i="1" dirty="0" smtClean="0"/>
              <a:t>Ex: Cost estimation for a college trip to </a:t>
            </a:r>
            <a:r>
              <a:rPr lang="en-US" sz="2400" i="1" dirty="0" err="1" smtClean="0"/>
              <a:t>Manali</a:t>
            </a:r>
            <a:r>
              <a:rPr lang="en-US" sz="2400" i="1" dirty="0" smtClean="0"/>
              <a:t>.</a:t>
            </a:r>
            <a:endParaRPr lang="en-US" sz="2400" dirty="0" smtClean="0"/>
          </a:p>
          <a:p>
            <a:pPr lvl="0"/>
            <a:r>
              <a:rPr lang="en-US" sz="2400" b="1" dirty="0" smtClean="0"/>
              <a:t>Policy:</a:t>
            </a:r>
            <a:r>
              <a:rPr lang="en-US" sz="2400" dirty="0" smtClean="0"/>
              <a:t> General guide. </a:t>
            </a:r>
            <a:r>
              <a:rPr lang="en-US" sz="2400" i="1" dirty="0" smtClean="0"/>
              <a:t>Ex: "We hire local youth first."</a:t>
            </a:r>
            <a:endParaRPr lang="en-US" sz="2400" dirty="0" smtClean="0"/>
          </a:p>
          <a:p>
            <a:endParaRPr lang="en-US" sz="16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785926"/>
            <a:ext cx="7631961" cy="3662541"/>
          </a:xfrm>
          <a:prstGeom prst="rect">
            <a:avLst/>
          </a:prstGeom>
          <a:noFill/>
        </p:spPr>
        <p:txBody>
          <a:bodyPr wrap="square" rtlCol="0">
            <a:spAutoFit/>
          </a:bodyPr>
          <a:lstStyle/>
          <a:p>
            <a:r>
              <a:rPr lang="en-US" sz="2800" b="1" dirty="0" smtClean="0"/>
              <a:t>Planning:</a:t>
            </a:r>
            <a:endParaRPr lang="en-US" sz="2800" dirty="0"/>
          </a:p>
          <a:p>
            <a:endParaRPr lang="en-US" dirty="0" smtClean="0"/>
          </a:p>
          <a:p>
            <a:r>
              <a:rPr lang="en-US" sz="2400" dirty="0" smtClean="0"/>
              <a:t>Steps in Planning:-</a:t>
            </a:r>
          </a:p>
          <a:p>
            <a:endParaRPr lang="en-US" sz="2400" dirty="0" smtClean="0"/>
          </a:p>
          <a:p>
            <a:pPr marL="457200" lvl="0" indent="-457200">
              <a:buFont typeface="+mj-lt"/>
              <a:buAutoNum type="arabicPeriod"/>
            </a:pPr>
            <a:r>
              <a:rPr lang="en-US" sz="2400" b="1" i="1" dirty="0" smtClean="0"/>
              <a:t>Define Objective.</a:t>
            </a:r>
          </a:p>
          <a:p>
            <a:pPr marL="457200" lvl="0" indent="-457200">
              <a:buFont typeface="+mj-lt"/>
              <a:buAutoNum type="arabicPeriod"/>
            </a:pPr>
            <a:r>
              <a:rPr lang="en-US" sz="2400" b="1" i="1" dirty="0" smtClean="0"/>
              <a:t>Gather Information (Premising).</a:t>
            </a:r>
          </a:p>
          <a:p>
            <a:pPr marL="457200" lvl="0" indent="-457200">
              <a:buFont typeface="+mj-lt"/>
              <a:buAutoNum type="arabicPeriod"/>
            </a:pPr>
            <a:r>
              <a:rPr lang="en-US" sz="2400" b="1" i="1" dirty="0" smtClean="0"/>
              <a:t>Identify Alternatives (Option A, B, C).</a:t>
            </a:r>
          </a:p>
          <a:p>
            <a:pPr marL="457200" lvl="0" indent="-457200">
              <a:buFont typeface="+mj-lt"/>
              <a:buAutoNum type="arabicPeriod"/>
            </a:pPr>
            <a:r>
              <a:rPr lang="en-US" sz="2400" b="1" i="1" dirty="0" smtClean="0"/>
              <a:t>Evaluate and Select the Best Option.</a:t>
            </a:r>
          </a:p>
          <a:p>
            <a:pPr marL="457200" lvl="0" indent="-457200">
              <a:buFont typeface="+mj-lt"/>
              <a:buAutoNum type="arabicPeriod"/>
            </a:pPr>
            <a:r>
              <a:rPr lang="en-US" sz="2400" b="1" i="1" dirty="0" smtClean="0"/>
              <a:t>Implement and Follow-up.</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00100" y="2714620"/>
            <a:ext cx="7631961" cy="2092881"/>
          </a:xfrm>
          <a:prstGeom prst="rect">
            <a:avLst/>
          </a:prstGeom>
          <a:noFill/>
        </p:spPr>
        <p:txBody>
          <a:bodyPr wrap="square" rtlCol="0">
            <a:spAutoFit/>
          </a:bodyPr>
          <a:lstStyle/>
          <a:p>
            <a:r>
              <a:rPr lang="en-US" sz="2800" b="1" dirty="0" smtClean="0"/>
              <a:t>Activity: "Plan a Trip“</a:t>
            </a:r>
          </a:p>
          <a:p>
            <a:endParaRPr lang="en-US" sz="2800" dirty="0" smtClean="0"/>
          </a:p>
          <a:p>
            <a:pPr lvl="0"/>
            <a:r>
              <a:rPr lang="en-US" sz="2800" b="1" dirty="0" smtClean="0"/>
              <a:t>Task:</a:t>
            </a:r>
            <a:r>
              <a:rPr lang="en-US" sz="2800" dirty="0" smtClean="0"/>
              <a:t> plan a class trip to </a:t>
            </a:r>
            <a:r>
              <a:rPr lang="en-US" sz="2800" b="1" dirty="0" err="1" smtClean="0"/>
              <a:t>Dharamshala</a:t>
            </a:r>
            <a:r>
              <a:rPr lang="en-US" sz="2800" dirty="0" smtClean="0"/>
              <a:t>.</a:t>
            </a:r>
          </a:p>
          <a:p>
            <a:pPr lvl="0"/>
            <a:endParaRPr lang="en-US" sz="2800"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714488"/>
            <a:ext cx="7631961" cy="5293757"/>
          </a:xfrm>
          <a:prstGeom prst="rect">
            <a:avLst/>
          </a:prstGeom>
          <a:noFill/>
        </p:spPr>
        <p:txBody>
          <a:bodyPr wrap="square" rtlCol="0">
            <a:spAutoFit/>
          </a:bodyPr>
          <a:lstStyle/>
          <a:p>
            <a:r>
              <a:rPr lang="en-US" sz="2400" b="1" dirty="0" smtClean="0"/>
              <a:t>Organizing</a:t>
            </a:r>
          </a:p>
          <a:p>
            <a:endParaRPr lang="en-US" dirty="0"/>
          </a:p>
          <a:p>
            <a:r>
              <a:rPr lang="en-US" sz="2400" dirty="0" smtClean="0"/>
              <a:t>It </a:t>
            </a:r>
            <a:r>
              <a:rPr lang="en-US" sz="2400" dirty="0"/>
              <a:t>is the process of bringing together physical, financial and human resources and developing productive relationship amongst them for achievement of organizational goals. </a:t>
            </a:r>
            <a:endParaRPr lang="en-US" sz="2400" dirty="0" smtClean="0"/>
          </a:p>
          <a:p>
            <a:endParaRPr lang="en-US" sz="2400" dirty="0" smtClean="0"/>
          </a:p>
          <a:p>
            <a:r>
              <a:rPr lang="en-US" sz="2400" b="1" dirty="0" smtClean="0"/>
              <a:t>According </a:t>
            </a:r>
            <a:r>
              <a:rPr lang="en-US" sz="2400" b="1" dirty="0"/>
              <a:t>to Henry </a:t>
            </a:r>
            <a:r>
              <a:rPr lang="en-US" sz="2400" b="1" dirty="0" err="1"/>
              <a:t>Fayol</a:t>
            </a:r>
            <a:r>
              <a:rPr lang="en-US" sz="2400" b="1" dirty="0"/>
              <a:t>, </a:t>
            </a:r>
            <a:endParaRPr lang="en-US" sz="2400" b="1" dirty="0" smtClean="0"/>
          </a:p>
          <a:p>
            <a:r>
              <a:rPr lang="en-US" sz="2400" b="1" dirty="0" smtClean="0"/>
              <a:t>	</a:t>
            </a:r>
            <a:r>
              <a:rPr lang="en-US" sz="2400" b="1" i="1" dirty="0" smtClean="0"/>
              <a:t>“</a:t>
            </a:r>
            <a:r>
              <a:rPr lang="en-US" sz="2400" b="1" i="1" dirty="0"/>
              <a:t>To organize a business is to provide it with everything useful </a:t>
            </a:r>
            <a:r>
              <a:rPr lang="en-US" sz="2400" b="1" i="1" dirty="0" smtClean="0"/>
              <a:t>for </a:t>
            </a:r>
            <a:r>
              <a:rPr lang="en-US" sz="2400" b="1" i="1" dirty="0"/>
              <a:t>its functioning i.e. raw material, tools, capital and personnel’s”. </a:t>
            </a:r>
            <a:endParaRPr lang="en-US" sz="2400" b="1" i="1" dirty="0" smtClean="0"/>
          </a:p>
          <a:p>
            <a:endParaRPr lang="en-US" sz="2400" b="1" i="1" dirty="0" smtClean="0"/>
          </a:p>
          <a:p>
            <a:r>
              <a:rPr lang="en-US" sz="2400" dirty="0" smtClean="0"/>
              <a:t>To </a:t>
            </a:r>
            <a:r>
              <a:rPr lang="en-US" sz="2400" dirty="0"/>
              <a:t>organize a business involves determining &amp; providing human and non-human resources to the organizational structure. </a:t>
            </a:r>
            <a:endParaRPr 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00108"/>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714488"/>
            <a:ext cx="8001024" cy="4031873"/>
          </a:xfrm>
          <a:prstGeom prst="rect">
            <a:avLst/>
          </a:prstGeom>
          <a:noFill/>
        </p:spPr>
        <p:txBody>
          <a:bodyPr wrap="square" rtlCol="0">
            <a:spAutoFit/>
          </a:bodyPr>
          <a:lstStyle/>
          <a:p>
            <a:r>
              <a:rPr lang="en-US" sz="2400" b="1" dirty="0" smtClean="0"/>
              <a:t>Organizing</a:t>
            </a:r>
          </a:p>
          <a:p>
            <a:endParaRPr lang="en-US" dirty="0"/>
          </a:p>
          <a:p>
            <a:r>
              <a:rPr lang="en-US" sz="2400" dirty="0" smtClean="0"/>
              <a:t>Organizing as a process involves:-</a:t>
            </a:r>
          </a:p>
          <a:p>
            <a:r>
              <a:rPr lang="en-US" sz="2800" dirty="0" smtClean="0"/>
              <a:t> </a:t>
            </a:r>
          </a:p>
          <a:p>
            <a:pPr marL="514350" lvl="0" indent="-514350">
              <a:buFont typeface="+mj-lt"/>
              <a:buAutoNum type="arabicPeriod"/>
            </a:pPr>
            <a:r>
              <a:rPr lang="en-US" sz="2400" b="1" i="1" dirty="0" smtClean="0"/>
              <a:t>Identification </a:t>
            </a:r>
            <a:r>
              <a:rPr lang="en-US" sz="2400" b="1" i="1" dirty="0"/>
              <a:t>of activities.</a:t>
            </a:r>
          </a:p>
          <a:p>
            <a:pPr marL="514350" lvl="0" indent="-514350">
              <a:buFont typeface="+mj-lt"/>
              <a:buAutoNum type="arabicPeriod"/>
            </a:pPr>
            <a:r>
              <a:rPr lang="en-US" sz="2400" b="1" i="1" dirty="0"/>
              <a:t>Classification </a:t>
            </a:r>
            <a:r>
              <a:rPr lang="en-US" sz="2400" b="1" i="1" dirty="0" smtClean="0"/>
              <a:t>or </a:t>
            </a:r>
            <a:r>
              <a:rPr lang="en-US" sz="2400" b="1" i="1" dirty="0"/>
              <a:t>grouping of activities.</a:t>
            </a:r>
          </a:p>
          <a:p>
            <a:pPr marL="514350" lvl="0" indent="-514350">
              <a:buFont typeface="+mj-lt"/>
              <a:buAutoNum type="arabicPeriod"/>
            </a:pPr>
            <a:r>
              <a:rPr lang="en-US" sz="2400" b="1" i="1" dirty="0"/>
              <a:t>Assignment of duties.</a:t>
            </a:r>
          </a:p>
          <a:p>
            <a:pPr marL="514350" lvl="0" indent="-514350">
              <a:buFont typeface="+mj-lt"/>
              <a:buAutoNum type="arabicPeriod"/>
            </a:pPr>
            <a:r>
              <a:rPr lang="en-US" sz="2400" b="1" i="1" dirty="0"/>
              <a:t>Delegation of authority and creation of responsibility.</a:t>
            </a:r>
          </a:p>
          <a:p>
            <a:pPr marL="514350" lvl="0" indent="-514350">
              <a:buFont typeface="+mj-lt"/>
              <a:buAutoNum type="arabicPeriod"/>
            </a:pPr>
            <a:r>
              <a:rPr lang="en-US" sz="2400" b="1" i="1" dirty="0"/>
              <a:t>Coordinating authority and responsibility relationships</a:t>
            </a:r>
            <a:r>
              <a:rPr lang="en-US" sz="2400" dirty="0"/>
              <a:t>.</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5293757"/>
          </a:xfrm>
          <a:prstGeom prst="rect">
            <a:avLst/>
          </a:prstGeom>
          <a:noFill/>
        </p:spPr>
        <p:txBody>
          <a:bodyPr wrap="square" rtlCol="0">
            <a:spAutoFit/>
          </a:bodyPr>
          <a:lstStyle/>
          <a:p>
            <a:r>
              <a:rPr lang="en-US" sz="2800" b="1" dirty="0" smtClean="0"/>
              <a:t>Staffing</a:t>
            </a:r>
          </a:p>
          <a:p>
            <a:endParaRPr lang="en-US" sz="2800" dirty="0"/>
          </a:p>
          <a:p>
            <a:r>
              <a:rPr lang="en-US" sz="2400" dirty="0" smtClean="0"/>
              <a:t>Staffing </a:t>
            </a:r>
            <a:r>
              <a:rPr lang="en-US" sz="2400" dirty="0"/>
              <a:t>is the function of manning the organization structure and keeping it manned. </a:t>
            </a:r>
            <a:endParaRPr lang="en-US" sz="2400" dirty="0" smtClean="0"/>
          </a:p>
          <a:p>
            <a:endParaRPr lang="en-US" sz="2400" dirty="0" smtClean="0"/>
          </a:p>
          <a:p>
            <a:r>
              <a:rPr lang="en-US" sz="2400" dirty="0" smtClean="0"/>
              <a:t>According </a:t>
            </a:r>
            <a:r>
              <a:rPr lang="en-US" sz="2400" dirty="0"/>
              <a:t>to </a:t>
            </a:r>
            <a:r>
              <a:rPr lang="en-US" sz="2400" dirty="0" smtClean="0"/>
              <a:t>Koontz &amp; </a:t>
            </a:r>
            <a:r>
              <a:rPr lang="en-US" sz="2400" dirty="0" err="1" smtClean="0"/>
              <a:t>O’Donell</a:t>
            </a:r>
            <a:r>
              <a:rPr lang="en-US" sz="2400" dirty="0"/>
              <a:t>, </a:t>
            </a:r>
            <a:r>
              <a:rPr lang="en-US" sz="2400" dirty="0" smtClean="0"/>
              <a:t> </a:t>
            </a:r>
          </a:p>
          <a:p>
            <a:r>
              <a:rPr lang="en-US" sz="2400" dirty="0" smtClean="0"/>
              <a:t>					</a:t>
            </a:r>
            <a:r>
              <a:rPr lang="en-US" sz="2400" b="1" i="1" dirty="0" smtClean="0"/>
              <a:t>“</a:t>
            </a:r>
            <a:r>
              <a:rPr lang="en-US" sz="2400" b="1" i="1" dirty="0"/>
              <a:t>Managerial function of staffing involves manning the organization structure through proper and effective selection, appraisal &amp; development of personnel to fill the roles designed </a:t>
            </a:r>
            <a:r>
              <a:rPr lang="en-US" sz="2400" b="1" i="1" dirty="0" smtClean="0"/>
              <a:t>in </a:t>
            </a:r>
            <a:r>
              <a:rPr lang="en-US" sz="2400" b="1" i="1" dirty="0"/>
              <a:t>the </a:t>
            </a:r>
            <a:r>
              <a:rPr lang="en-US" sz="2400" b="1" i="1" dirty="0" smtClean="0"/>
              <a:t>organization structure</a:t>
            </a:r>
            <a:r>
              <a:rPr lang="en-US" sz="2400" b="1" i="1" dirty="0"/>
              <a:t>”. </a:t>
            </a:r>
            <a:endParaRPr lang="en-US" sz="2400" b="1" i="1" dirty="0" smtClean="0"/>
          </a:p>
          <a:p>
            <a:endParaRPr lang="en-US" sz="2400" dirty="0" smtClean="0"/>
          </a:p>
          <a:p>
            <a:r>
              <a:rPr lang="en-US" sz="2400" i="1" dirty="0" smtClean="0">
                <a:solidFill>
                  <a:srgbClr val="C00000"/>
                </a:solidFill>
              </a:rPr>
              <a:t>The main purpose o staffing is to put right man on right job.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4924425"/>
          </a:xfrm>
          <a:prstGeom prst="rect">
            <a:avLst/>
          </a:prstGeom>
          <a:noFill/>
        </p:spPr>
        <p:txBody>
          <a:bodyPr wrap="square" rtlCol="0">
            <a:spAutoFit/>
          </a:bodyPr>
          <a:lstStyle/>
          <a:p>
            <a:r>
              <a:rPr lang="en-US" sz="2800" b="1" dirty="0" smtClean="0"/>
              <a:t>Staffing</a:t>
            </a:r>
          </a:p>
          <a:p>
            <a:endParaRPr lang="en-US" sz="2800" dirty="0"/>
          </a:p>
          <a:p>
            <a:r>
              <a:rPr lang="en-US" sz="2400" dirty="0" smtClean="0"/>
              <a:t>Staffing </a:t>
            </a:r>
            <a:r>
              <a:rPr lang="en-US" sz="2400" dirty="0"/>
              <a:t>involves:</a:t>
            </a:r>
          </a:p>
          <a:p>
            <a:r>
              <a:rPr lang="en-US" sz="2400" dirty="0"/>
              <a:t> </a:t>
            </a:r>
          </a:p>
          <a:p>
            <a:pPr marL="457200" lvl="0" indent="-457200">
              <a:buFont typeface="+mj-lt"/>
              <a:buAutoNum type="arabicPeriod"/>
            </a:pPr>
            <a:r>
              <a:rPr lang="en-US" sz="2400" b="1" i="1" dirty="0"/>
              <a:t>Manpower Planning (estimating man power in terms of searching, choose the person and giving the right place).</a:t>
            </a:r>
          </a:p>
          <a:p>
            <a:pPr marL="457200" lvl="0" indent="-457200">
              <a:buFont typeface="+mj-lt"/>
              <a:buAutoNum type="arabicPeriod"/>
            </a:pPr>
            <a:r>
              <a:rPr lang="en-US" sz="2400" b="1" i="1" dirty="0"/>
              <a:t>Recruitment, Selection &amp; Placement.</a:t>
            </a:r>
          </a:p>
          <a:p>
            <a:pPr marL="457200" lvl="0" indent="-457200">
              <a:buFont typeface="+mj-lt"/>
              <a:buAutoNum type="arabicPeriod"/>
            </a:pPr>
            <a:r>
              <a:rPr lang="en-US" sz="2400" b="1" i="1" dirty="0"/>
              <a:t>Training &amp; Development.</a:t>
            </a:r>
          </a:p>
          <a:p>
            <a:pPr marL="457200" lvl="0" indent="-457200">
              <a:buFont typeface="+mj-lt"/>
              <a:buAutoNum type="arabicPeriod"/>
            </a:pPr>
            <a:r>
              <a:rPr lang="en-US" sz="2400" b="1" i="1" dirty="0"/>
              <a:t>Remuneration.</a:t>
            </a:r>
          </a:p>
          <a:p>
            <a:pPr marL="457200" lvl="0" indent="-457200">
              <a:buFont typeface="+mj-lt"/>
              <a:buAutoNum type="arabicPeriod"/>
            </a:pPr>
            <a:r>
              <a:rPr lang="en-US" sz="2400" b="1" i="1" dirty="0"/>
              <a:t>Performance Appraisal.</a:t>
            </a:r>
          </a:p>
          <a:p>
            <a:pPr marL="457200" lvl="0" indent="-457200">
              <a:buFont typeface="+mj-lt"/>
              <a:buAutoNum type="arabicPeriod"/>
            </a:pPr>
            <a:r>
              <a:rPr lang="en-US" sz="2400" b="1" i="1" dirty="0"/>
              <a:t>Promotions &amp; Transfer.</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5386090"/>
          </a:xfrm>
          <a:prstGeom prst="rect">
            <a:avLst/>
          </a:prstGeom>
          <a:noFill/>
        </p:spPr>
        <p:txBody>
          <a:bodyPr wrap="square" rtlCol="0">
            <a:spAutoFit/>
          </a:bodyPr>
          <a:lstStyle/>
          <a:p>
            <a:r>
              <a:rPr lang="en-US" sz="2800" b="1" dirty="0" smtClean="0"/>
              <a:t>Coordinating</a:t>
            </a:r>
          </a:p>
          <a:p>
            <a:endParaRPr lang="en-US" sz="2800" dirty="0"/>
          </a:p>
          <a:p>
            <a:r>
              <a:rPr lang="en-US" sz="2400" dirty="0" smtClean="0"/>
              <a:t>Coordination is often called the "Essence of Management." It is not just a separate function but the force that binds all other functions (Planning, Organizing, Staffing, Directing/ Coordinating, Controlling) together.</a:t>
            </a:r>
          </a:p>
          <a:p>
            <a:endParaRPr lang="en-US" sz="2400" dirty="0" smtClean="0"/>
          </a:p>
          <a:p>
            <a:pPr lvl="0"/>
            <a:r>
              <a:rPr lang="en-US" sz="2400" b="1" dirty="0" smtClean="0"/>
              <a:t>According to Koontz &amp; </a:t>
            </a:r>
            <a:r>
              <a:rPr lang="en-US" sz="2400" b="1" dirty="0" err="1" smtClean="0"/>
              <a:t>O’Donell</a:t>
            </a:r>
            <a:r>
              <a:rPr lang="en-US" sz="2400" b="1" dirty="0" smtClean="0"/>
              <a:t>, </a:t>
            </a:r>
          </a:p>
          <a:p>
            <a:pPr lvl="0"/>
            <a:r>
              <a:rPr lang="en-US" sz="2400" dirty="0" smtClean="0"/>
              <a:t>			</a:t>
            </a:r>
          </a:p>
          <a:p>
            <a:pPr lvl="0"/>
            <a:r>
              <a:rPr lang="en-US" sz="2400" i="1" dirty="0" smtClean="0"/>
              <a:t>		"</a:t>
            </a:r>
            <a:r>
              <a:rPr lang="en-US" sz="2400" b="1" i="1" dirty="0" smtClean="0"/>
              <a:t>Coordination is the essence of management, for the achievement of harmony of individual efforts towards the accomplishment of group goals." </a:t>
            </a:r>
          </a:p>
          <a:p>
            <a:endParaRPr lang="en-IN" sz="24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5693866"/>
          </a:xfrm>
          <a:prstGeom prst="rect">
            <a:avLst/>
          </a:prstGeom>
          <a:noFill/>
        </p:spPr>
        <p:txBody>
          <a:bodyPr wrap="square" rtlCol="0">
            <a:spAutoFit/>
          </a:bodyPr>
          <a:lstStyle/>
          <a:p>
            <a:r>
              <a:rPr lang="en-US" sz="2800" b="1" dirty="0" smtClean="0"/>
              <a:t>Coordinating</a:t>
            </a:r>
          </a:p>
          <a:p>
            <a:endParaRPr lang="en-IN" sz="2400" dirty="0" smtClean="0"/>
          </a:p>
          <a:p>
            <a:pPr lvl="0"/>
            <a:r>
              <a:rPr lang="en-US" sz="2400" b="1" dirty="0" smtClean="0"/>
              <a:t>According to Mooney &amp; </a:t>
            </a:r>
            <a:r>
              <a:rPr lang="en-US" sz="2400" b="1" dirty="0" err="1" smtClean="0"/>
              <a:t>Reiley</a:t>
            </a:r>
            <a:r>
              <a:rPr lang="en-US" sz="2400" b="1" dirty="0" smtClean="0"/>
              <a:t>,</a:t>
            </a:r>
          </a:p>
          <a:p>
            <a:r>
              <a:rPr lang="en-US" sz="2400" dirty="0" smtClean="0"/>
              <a:t>			</a:t>
            </a:r>
            <a:r>
              <a:rPr lang="en-US" sz="2400" b="1" i="1" dirty="0" smtClean="0"/>
              <a:t>"Coordination is the orderly arrangement of group effort to provide unity of action in the pursuit of a common purpose."</a:t>
            </a:r>
          </a:p>
          <a:p>
            <a:endParaRPr lang="en-IN" sz="2400" dirty="0" smtClean="0"/>
          </a:p>
          <a:p>
            <a:pPr>
              <a:buFont typeface="Wingdings" pitchFamily="2" charset="2"/>
              <a:buChar char="v"/>
            </a:pPr>
            <a:r>
              <a:rPr lang="en-US" sz="2400" dirty="0" smtClean="0"/>
              <a:t> Coordination is basically a process of </a:t>
            </a:r>
            <a:r>
              <a:rPr lang="en-US" sz="2400" b="1" dirty="0" smtClean="0"/>
              <a:t>Synchronization</a:t>
            </a:r>
            <a:r>
              <a:rPr lang="en-US" sz="2400" dirty="0" smtClean="0"/>
              <a:t>. </a:t>
            </a:r>
          </a:p>
          <a:p>
            <a:r>
              <a:rPr lang="en-US" sz="2400" dirty="0" smtClean="0"/>
              <a:t>It involves:</a:t>
            </a:r>
          </a:p>
          <a:p>
            <a:pPr lvl="1">
              <a:buFont typeface="Wingdings" pitchFamily="2" charset="2"/>
              <a:buChar char="Ø"/>
            </a:pPr>
            <a:r>
              <a:rPr lang="en-US" sz="2200" b="1" dirty="0" smtClean="0"/>
              <a:t>Timing:</a:t>
            </a:r>
            <a:r>
              <a:rPr lang="en-US" sz="2200" dirty="0" smtClean="0"/>
              <a:t> Ensuring Task B starts exactly when Task A finishes.</a:t>
            </a:r>
          </a:p>
          <a:p>
            <a:pPr lvl="1">
              <a:buFont typeface="Wingdings" pitchFamily="2" charset="2"/>
              <a:buChar char="Ø"/>
            </a:pPr>
            <a:r>
              <a:rPr lang="en-US" sz="2200" b="1" dirty="0" smtClean="0"/>
              <a:t>Balancing:</a:t>
            </a:r>
            <a:r>
              <a:rPr lang="en-US" sz="2200" dirty="0" smtClean="0"/>
              <a:t> Ensuring no department is overworked while another sits idle.</a:t>
            </a:r>
          </a:p>
          <a:p>
            <a:pPr lvl="1">
              <a:buFont typeface="Wingdings" pitchFamily="2" charset="2"/>
              <a:buChar char="Ø"/>
            </a:pPr>
            <a:r>
              <a:rPr lang="en-US" sz="2200" b="1" dirty="0" smtClean="0"/>
              <a:t>Integrating:</a:t>
            </a:r>
            <a:r>
              <a:rPr lang="en-US" sz="2200" dirty="0" smtClean="0"/>
              <a:t> combining separate efforts into a single outcome.</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6155531"/>
          </a:xfrm>
          <a:prstGeom prst="rect">
            <a:avLst/>
          </a:prstGeom>
          <a:noFill/>
        </p:spPr>
        <p:txBody>
          <a:bodyPr wrap="square" rtlCol="0">
            <a:spAutoFit/>
          </a:bodyPr>
          <a:lstStyle/>
          <a:p>
            <a:r>
              <a:rPr lang="en-US" sz="2800" b="1" dirty="0" smtClean="0"/>
              <a:t>Coordinating</a:t>
            </a:r>
          </a:p>
          <a:p>
            <a:endParaRPr lang="en-US" sz="2800" b="1" dirty="0" smtClean="0"/>
          </a:p>
          <a:p>
            <a:pPr lvl="0"/>
            <a:r>
              <a:rPr lang="en-IN" sz="2400" dirty="0" smtClean="0"/>
              <a:t>Purpose :</a:t>
            </a:r>
          </a:p>
          <a:p>
            <a:pPr marL="457200" lvl="0" indent="-457200">
              <a:buFont typeface="Wingdings" pitchFamily="2" charset="2"/>
              <a:buChar char="§"/>
            </a:pPr>
            <a:r>
              <a:rPr lang="en-US" sz="2400" b="1" dirty="0" smtClean="0"/>
              <a:t> </a:t>
            </a:r>
            <a:r>
              <a:rPr lang="en-US" sz="2000" b="1" dirty="0" smtClean="0"/>
              <a:t>Unity of Action:</a:t>
            </a:r>
            <a:r>
              <a:rPr lang="en-US" sz="2000" dirty="0" smtClean="0"/>
              <a:t> Different departments often have different sub-goals. The Sales team wants to sell more (low price), but the Finance team wants to save money (high price). Coordination reconciles these differences to achieve the main organizational goal.</a:t>
            </a:r>
          </a:p>
          <a:p>
            <a:pPr marL="457200" lvl="0" indent="-457200">
              <a:buFont typeface="Wingdings" pitchFamily="2" charset="2"/>
              <a:buChar char="§"/>
            </a:pPr>
            <a:r>
              <a:rPr lang="en-US" sz="2000" b="1" dirty="0" smtClean="0"/>
              <a:t>Efficiency and Economy:</a:t>
            </a:r>
            <a:r>
              <a:rPr lang="en-US" sz="2000" dirty="0" smtClean="0"/>
              <a:t> It prevents duplication of work. Without coordination, two engineers might order the same spare part for the same machine, wasting money.</a:t>
            </a:r>
          </a:p>
          <a:p>
            <a:pPr marL="457200" lvl="0" indent="-457200">
              <a:buFont typeface="Wingdings" pitchFamily="2" charset="2"/>
              <a:buChar char="§"/>
            </a:pPr>
            <a:r>
              <a:rPr lang="en-US" sz="2000" b="1" dirty="0" smtClean="0"/>
              <a:t>Total Quality Management (TQM):</a:t>
            </a:r>
            <a:r>
              <a:rPr lang="en-US" sz="2000" dirty="0" smtClean="0"/>
              <a:t> As you will learn in Unit 5, quality requires every stage of production to be perfect. Coordination ensures that the quality standards set in the planning stage are actually met on the production floor.</a:t>
            </a:r>
          </a:p>
          <a:p>
            <a:pPr lvl="0"/>
            <a:endParaRPr lang="en-IN" sz="2400" dirty="0" smtClean="0"/>
          </a:p>
          <a:p>
            <a:pPr lvl="0"/>
            <a:endParaRPr lang="en-US" sz="2400" dirty="0" smtClean="0"/>
          </a:p>
          <a:p>
            <a:endParaRPr lang="en-US" sz="2400"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7879080"/>
          </a:xfrm>
          <a:prstGeom prst="rect">
            <a:avLst/>
          </a:prstGeom>
          <a:noFill/>
        </p:spPr>
        <p:txBody>
          <a:bodyPr wrap="square" rtlCol="0">
            <a:spAutoFit/>
          </a:bodyPr>
          <a:lstStyle/>
          <a:p>
            <a:r>
              <a:rPr lang="en-US" sz="2800" b="1" dirty="0" smtClean="0"/>
              <a:t>Coordinating</a:t>
            </a:r>
          </a:p>
          <a:p>
            <a:endParaRPr lang="en-US" sz="2800" b="1" dirty="0" smtClean="0"/>
          </a:p>
          <a:p>
            <a:pPr lvl="0"/>
            <a:r>
              <a:rPr lang="en-IN" sz="2400" dirty="0" smtClean="0"/>
              <a:t>Steps Involved :</a:t>
            </a:r>
          </a:p>
          <a:p>
            <a:pPr lvl="0"/>
            <a:endParaRPr lang="en-IN" sz="2400" dirty="0" smtClean="0"/>
          </a:p>
          <a:p>
            <a:pPr marL="457200" indent="-457200">
              <a:buFont typeface="+mj-lt"/>
              <a:buAutoNum type="arabicPeriod"/>
            </a:pPr>
            <a:r>
              <a:rPr lang="en-US" sz="2400" b="1" dirty="0" smtClean="0"/>
              <a:t>Clear Communication: </a:t>
            </a:r>
            <a:r>
              <a:rPr lang="en-US" sz="2400" dirty="0" smtClean="0"/>
              <a:t>The manager must ensure that instructions are understood clearly.</a:t>
            </a:r>
          </a:p>
          <a:p>
            <a:pPr marL="457200" indent="-457200">
              <a:buFont typeface="+mj-lt"/>
              <a:buAutoNum type="arabicPeriod"/>
            </a:pPr>
            <a:r>
              <a:rPr lang="en-US" sz="2400" b="1" dirty="0" smtClean="0"/>
              <a:t>Standard Operating Procedures (SOPs): </a:t>
            </a:r>
            <a:r>
              <a:rPr lang="en-US" sz="2400" dirty="0" smtClean="0"/>
              <a:t>Written rules that tell everyone exactly what to do in routine situations. This reduces confusion.</a:t>
            </a:r>
          </a:p>
          <a:p>
            <a:pPr marL="457200" indent="-457200">
              <a:buFont typeface="+mj-lt"/>
              <a:buAutoNum type="arabicPeriod"/>
            </a:pPr>
            <a:r>
              <a:rPr lang="en-US" sz="2400" b="1" dirty="0" smtClean="0"/>
              <a:t>Regular Meetings: </a:t>
            </a:r>
            <a:r>
              <a:rPr lang="en-US" sz="2400" dirty="0" smtClean="0"/>
              <a:t>Face-to-face discussions to resolve conflicts and update progress.</a:t>
            </a:r>
          </a:p>
          <a:p>
            <a:pPr marL="457200" indent="-457200">
              <a:buFont typeface="+mj-lt"/>
              <a:buAutoNum type="arabicPeriod"/>
            </a:pPr>
            <a:r>
              <a:rPr lang="en-US" sz="2400" b="1" dirty="0" smtClean="0"/>
              <a:t>Use of Committees: </a:t>
            </a:r>
            <a:r>
              <a:rPr lang="en-US" sz="2400" dirty="0" smtClean="0"/>
              <a:t>Groups created to handle specific problems involving multiple departments.</a:t>
            </a:r>
          </a:p>
          <a:p>
            <a:pPr lvl="0"/>
            <a:endParaRPr lang="en-US" sz="2400" dirty="0" smtClean="0"/>
          </a:p>
          <a:p>
            <a:pPr lvl="0"/>
            <a:endParaRPr lang="en-IN" sz="2400" dirty="0" smtClean="0"/>
          </a:p>
          <a:p>
            <a:pPr lvl="0"/>
            <a:endParaRPr lang="en-US" sz="2400" dirty="0" smtClean="0"/>
          </a:p>
          <a:p>
            <a:pPr lvl="0"/>
            <a:endParaRPr lang="en-US" sz="2400" dirty="0" smtClean="0"/>
          </a:p>
          <a:p>
            <a:pPr lvl="0"/>
            <a:endParaRPr lang="en-IN" sz="2400" dirty="0" smtClean="0"/>
          </a:p>
          <a:p>
            <a:pPr lvl="0"/>
            <a:endParaRPr lang="en-US" sz="2400" dirty="0" smtClean="0"/>
          </a:p>
          <a:p>
            <a:endParaRPr lang="en-US" sz="2400"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285860"/>
            <a:ext cx="7631961" cy="5909310"/>
          </a:xfrm>
          <a:prstGeom prst="rect">
            <a:avLst/>
          </a:prstGeom>
          <a:noFill/>
        </p:spPr>
        <p:txBody>
          <a:bodyPr wrap="square" rtlCol="0">
            <a:spAutoFit/>
          </a:bodyPr>
          <a:lstStyle/>
          <a:p>
            <a:r>
              <a:rPr lang="en-US" sz="2400" b="1" dirty="0" smtClean="0"/>
              <a:t>Directing</a:t>
            </a:r>
          </a:p>
          <a:p>
            <a:endParaRPr lang="en-US" sz="2400" dirty="0"/>
          </a:p>
          <a:p>
            <a:r>
              <a:rPr lang="en-US" sz="2400" b="1" i="1" dirty="0"/>
              <a:t>It is that part of managerial function which actuates the organizational methods to work efficiently for achievement of organizational purposes. </a:t>
            </a:r>
            <a:endParaRPr lang="en-US" sz="2400" b="1" i="1" dirty="0" smtClean="0"/>
          </a:p>
          <a:p>
            <a:endParaRPr lang="en-US" sz="2400" dirty="0" smtClean="0"/>
          </a:p>
          <a:p>
            <a:r>
              <a:rPr lang="en-US" sz="2400" dirty="0" smtClean="0"/>
              <a:t>It </a:t>
            </a:r>
            <a:r>
              <a:rPr lang="en-US" sz="2400" dirty="0"/>
              <a:t>is considered life-spark of the enterprise which sets it in motion the action of people because planning, organizing and staffing are the mere preparations for doing the work. </a:t>
            </a:r>
            <a:endParaRPr lang="en-US" sz="2400" dirty="0" smtClean="0"/>
          </a:p>
          <a:p>
            <a:endParaRPr lang="en-US" sz="2400" dirty="0" smtClean="0"/>
          </a:p>
          <a:p>
            <a:r>
              <a:rPr lang="en-US" sz="2400" dirty="0" smtClean="0"/>
              <a:t>Direction </a:t>
            </a:r>
            <a:r>
              <a:rPr lang="en-US" sz="2400" dirty="0"/>
              <a:t>has following elements</a:t>
            </a:r>
            <a:r>
              <a:rPr lang="en-US" sz="2400" dirty="0" smtClean="0"/>
              <a:t>: </a:t>
            </a:r>
            <a:endParaRPr lang="en-US" sz="2400" dirty="0"/>
          </a:p>
          <a:p>
            <a:pPr lvl="0">
              <a:buFont typeface="Arial" panose="020B0604020202020204" pitchFamily="34" charset="0"/>
              <a:buChar char="•"/>
            </a:pPr>
            <a:r>
              <a:rPr lang="en-US" sz="2400" dirty="0" smtClean="0"/>
              <a:t> Supervision</a:t>
            </a:r>
            <a:endParaRPr lang="en-US" sz="2400" dirty="0"/>
          </a:p>
          <a:p>
            <a:pPr lvl="0">
              <a:buFont typeface="Arial" panose="020B0604020202020204" pitchFamily="34" charset="0"/>
              <a:buChar char="•"/>
            </a:pPr>
            <a:r>
              <a:rPr lang="en-US" sz="2400" dirty="0" smtClean="0"/>
              <a:t> Motivation</a:t>
            </a:r>
            <a:endParaRPr lang="en-US" sz="2400" dirty="0"/>
          </a:p>
          <a:p>
            <a:pPr lvl="0">
              <a:buFont typeface="Arial" panose="020B0604020202020204" pitchFamily="34" charset="0"/>
              <a:buChar char="•"/>
            </a:pPr>
            <a:r>
              <a:rPr lang="en-US" sz="2400" dirty="0" smtClean="0"/>
              <a:t> Leadership</a:t>
            </a:r>
            <a:endParaRPr lang="en-US" sz="2400" dirty="0"/>
          </a:p>
          <a:p>
            <a:pPr lvl="0">
              <a:buFont typeface="Arial" panose="020B0604020202020204" pitchFamily="34" charset="0"/>
              <a:buChar char="•"/>
            </a:pPr>
            <a:r>
              <a:rPr lang="en-US" sz="2400" dirty="0" smtClean="0"/>
              <a:t> Communication</a:t>
            </a:r>
            <a:endParaRPr lang="en-US" sz="2400" dirty="0"/>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4801314"/>
          </a:xfrm>
          <a:prstGeom prst="rect">
            <a:avLst/>
          </a:prstGeom>
          <a:noFill/>
        </p:spPr>
        <p:txBody>
          <a:bodyPr wrap="square" rtlCol="0">
            <a:spAutoFit/>
          </a:bodyPr>
          <a:lstStyle/>
          <a:p>
            <a:r>
              <a:rPr lang="en-US" sz="2400" b="1" dirty="0" smtClean="0"/>
              <a:t>Directing</a:t>
            </a:r>
          </a:p>
          <a:p>
            <a:endParaRPr lang="en-US" sz="2400" dirty="0"/>
          </a:p>
          <a:p>
            <a:pPr lvl="0"/>
            <a:r>
              <a:rPr lang="en-US" sz="2000" b="1" dirty="0"/>
              <a:t>Supervision-</a:t>
            </a:r>
            <a:r>
              <a:rPr lang="en-US" sz="2000" dirty="0"/>
              <a:t> implies overseeing the work of subordinates by their superiors. It is the act of watching &amp; directing work &amp; workers.</a:t>
            </a:r>
          </a:p>
          <a:p>
            <a:r>
              <a:rPr lang="en-US" sz="2000" dirty="0"/>
              <a:t> </a:t>
            </a:r>
          </a:p>
          <a:p>
            <a:pPr lvl="0"/>
            <a:r>
              <a:rPr lang="en-US" sz="2000" b="1" dirty="0"/>
              <a:t>Motivation-</a:t>
            </a:r>
            <a:r>
              <a:rPr lang="en-US" sz="2000" dirty="0"/>
              <a:t> means inspiring, stimulating or encouraging the sub-ordinates with zeal to work. Positive, negative, monetary, non-monetary incentives may be used for this purpose.</a:t>
            </a:r>
          </a:p>
          <a:p>
            <a:r>
              <a:rPr lang="en-US" sz="2000" dirty="0"/>
              <a:t> </a:t>
            </a:r>
          </a:p>
          <a:p>
            <a:pPr lvl="0"/>
            <a:r>
              <a:rPr lang="en-US" sz="2000" b="1" dirty="0"/>
              <a:t>Leadership-</a:t>
            </a:r>
            <a:r>
              <a:rPr lang="en-US" sz="2000" dirty="0"/>
              <a:t> may be defined as a process by which manager guides and influences the work of subordinates in desired direction.</a:t>
            </a:r>
          </a:p>
          <a:p>
            <a:r>
              <a:rPr lang="en-US" sz="2000" dirty="0"/>
              <a:t> </a:t>
            </a:r>
          </a:p>
          <a:p>
            <a:pPr lvl="0"/>
            <a:r>
              <a:rPr lang="en-US" sz="2000" b="1" dirty="0"/>
              <a:t>Communications-</a:t>
            </a:r>
            <a:r>
              <a:rPr lang="en-US" sz="2000" dirty="0"/>
              <a:t> is the process of passing information, experience, opinion etc from one person to another. It is a bridge of understanding.</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5016758"/>
          </a:xfrm>
          <a:prstGeom prst="rect">
            <a:avLst/>
          </a:prstGeom>
          <a:noFill/>
        </p:spPr>
        <p:txBody>
          <a:bodyPr wrap="square" rtlCol="0">
            <a:spAutoFit/>
          </a:bodyPr>
          <a:lstStyle/>
          <a:p>
            <a:r>
              <a:rPr lang="en-US" sz="2800" b="1" dirty="0" smtClean="0"/>
              <a:t>Controlling:</a:t>
            </a:r>
          </a:p>
          <a:p>
            <a:endParaRPr lang="en-US" sz="2800" b="1" dirty="0" smtClean="0"/>
          </a:p>
          <a:p>
            <a:r>
              <a:rPr lang="en-US" sz="2400" dirty="0" smtClean="0"/>
              <a:t>Controlling </a:t>
            </a:r>
            <a:r>
              <a:rPr lang="en-US" sz="2400" dirty="0"/>
              <a:t>implies measurement of accomplishment against the standards and correction of deviation if any to ensure achievement of organizational goals. </a:t>
            </a:r>
            <a:endParaRPr lang="en-US" sz="2400" dirty="0" smtClean="0"/>
          </a:p>
          <a:p>
            <a:endParaRPr lang="en-US" sz="2400" dirty="0" smtClean="0"/>
          </a:p>
          <a:p>
            <a:r>
              <a:rPr lang="en-US" sz="2400" b="1" dirty="0" smtClean="0"/>
              <a:t>According </a:t>
            </a:r>
            <a:r>
              <a:rPr lang="en-US" sz="2400" b="1" dirty="0"/>
              <a:t>to Theo </a:t>
            </a:r>
            <a:r>
              <a:rPr lang="en-US" sz="2400" b="1" dirty="0" err="1"/>
              <a:t>Haimann</a:t>
            </a:r>
            <a:r>
              <a:rPr lang="en-US" sz="2400" b="1" dirty="0"/>
              <a:t>, </a:t>
            </a:r>
            <a:endParaRPr lang="en-US" sz="2400" b="1" dirty="0" smtClean="0"/>
          </a:p>
          <a:p>
            <a:endParaRPr lang="en-US" sz="2400" b="1" dirty="0" smtClean="0"/>
          </a:p>
          <a:p>
            <a:r>
              <a:rPr lang="en-US" sz="2400" b="1" dirty="0" smtClean="0"/>
              <a:t>				</a:t>
            </a:r>
            <a:r>
              <a:rPr lang="en-US" sz="2400" b="1" i="1" dirty="0" smtClean="0"/>
              <a:t> “</a:t>
            </a:r>
            <a:r>
              <a:rPr lang="en-US" sz="2400" b="1" i="1" dirty="0"/>
              <a:t>Controlling is the process of checking whether or not proper progress is being made towards the objectives and goals and acting if necessary, to correct any deviation”. </a:t>
            </a:r>
            <a:endParaRPr lang="en-US" sz="2400" b="1" i="1" dirty="0" smtClean="0"/>
          </a:p>
          <a:p>
            <a:endParaRPr lang="en-US"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5601533"/>
          </a:xfrm>
          <a:prstGeom prst="rect">
            <a:avLst/>
          </a:prstGeom>
          <a:noFill/>
        </p:spPr>
        <p:txBody>
          <a:bodyPr wrap="square" rtlCol="0">
            <a:spAutoFit/>
          </a:bodyPr>
          <a:lstStyle/>
          <a:p>
            <a:r>
              <a:rPr lang="en-US" sz="2800" b="1" dirty="0" smtClean="0"/>
              <a:t>Controlling:</a:t>
            </a:r>
          </a:p>
          <a:p>
            <a:endParaRPr lang="en-US" sz="2400" dirty="0" smtClean="0"/>
          </a:p>
          <a:p>
            <a:r>
              <a:rPr lang="en-US" sz="2400" b="1" dirty="0" smtClean="0"/>
              <a:t>According </a:t>
            </a:r>
            <a:r>
              <a:rPr lang="en-US" sz="2400" b="1" dirty="0"/>
              <a:t>to Koontz </a:t>
            </a:r>
            <a:r>
              <a:rPr lang="en-US" sz="2400" b="1" dirty="0" smtClean="0"/>
              <a:t>&amp; </a:t>
            </a:r>
            <a:r>
              <a:rPr lang="en-US" sz="2400" b="1" dirty="0" err="1" smtClean="0"/>
              <a:t>O’Donell</a:t>
            </a:r>
            <a:r>
              <a:rPr lang="en-US" sz="2400" b="1" dirty="0" smtClean="0"/>
              <a:t> </a:t>
            </a:r>
          </a:p>
          <a:p>
            <a:r>
              <a:rPr lang="en-US" sz="2400" b="1" dirty="0" smtClean="0"/>
              <a:t>				</a:t>
            </a:r>
            <a:r>
              <a:rPr lang="en-US" sz="2400" b="1" i="1" dirty="0" smtClean="0"/>
              <a:t>“</a:t>
            </a:r>
            <a:r>
              <a:rPr lang="en-US" sz="2400" b="1" i="1" dirty="0"/>
              <a:t>Controlling is the measurement &amp; correction of performance activities of subordinates in order to make sure that the enterprise objectives and plans desired to obtain them as being accomplished”. </a:t>
            </a:r>
            <a:endParaRPr lang="en-US" sz="2400" b="1" i="1" dirty="0" smtClean="0"/>
          </a:p>
          <a:p>
            <a:endParaRPr lang="en-US" sz="2400" b="1" i="1" dirty="0" smtClean="0"/>
          </a:p>
          <a:p>
            <a:r>
              <a:rPr lang="en-US" sz="2400" dirty="0" smtClean="0">
                <a:solidFill>
                  <a:srgbClr val="C00000"/>
                </a:solidFill>
              </a:rPr>
              <a:t>The purpose of controlling is to ensure that everything occurs in conformities with the standards.  An efficient system of control helps to predict deviations before they actually occur.</a:t>
            </a:r>
          </a:p>
          <a:p>
            <a:endParaRPr lang="en-US" sz="2400" dirty="0" smtClean="0"/>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3754874"/>
          </a:xfrm>
          <a:prstGeom prst="rect">
            <a:avLst/>
          </a:prstGeom>
          <a:noFill/>
        </p:spPr>
        <p:txBody>
          <a:bodyPr wrap="square" rtlCol="0">
            <a:spAutoFit/>
          </a:bodyPr>
          <a:lstStyle/>
          <a:p>
            <a:r>
              <a:rPr lang="en-US" sz="2800" b="1" dirty="0" smtClean="0"/>
              <a:t>Controlling:</a:t>
            </a:r>
          </a:p>
          <a:p>
            <a:endParaRPr lang="en-US" sz="2400" dirty="0" smtClean="0"/>
          </a:p>
          <a:p>
            <a:r>
              <a:rPr lang="en-US" sz="2400" dirty="0" smtClean="0"/>
              <a:t>Therefore </a:t>
            </a:r>
            <a:r>
              <a:rPr lang="en-US" sz="2400" dirty="0"/>
              <a:t>controlling has following steps:</a:t>
            </a:r>
          </a:p>
          <a:p>
            <a:r>
              <a:rPr lang="en-US" sz="2400" dirty="0"/>
              <a:t> </a:t>
            </a:r>
          </a:p>
          <a:p>
            <a:pPr marL="457200" lvl="0" indent="-457200">
              <a:buFont typeface="+mj-lt"/>
              <a:buAutoNum type="arabicPeriod"/>
            </a:pPr>
            <a:r>
              <a:rPr lang="en-US" sz="2400" b="1" i="1" dirty="0"/>
              <a:t>Establishment of </a:t>
            </a:r>
            <a:r>
              <a:rPr lang="en-US" sz="2400" b="1" i="1" dirty="0" smtClean="0"/>
              <a:t>performance standards.</a:t>
            </a:r>
            <a:endParaRPr lang="en-US" sz="2400" b="1" i="1" dirty="0"/>
          </a:p>
          <a:p>
            <a:pPr marL="457200" lvl="0" indent="-457200">
              <a:buFont typeface="+mj-lt"/>
              <a:buAutoNum type="arabicPeriod"/>
            </a:pPr>
            <a:r>
              <a:rPr lang="en-US" sz="2400" b="1" i="1" dirty="0"/>
              <a:t>Measurement of actual performance.</a:t>
            </a:r>
          </a:p>
          <a:p>
            <a:pPr marL="457200" lvl="0" indent="-457200">
              <a:buFont typeface="+mj-lt"/>
              <a:buAutoNum type="arabicPeriod"/>
            </a:pPr>
            <a:r>
              <a:rPr lang="en-US" sz="2400" b="1" i="1" dirty="0"/>
              <a:t>Comparison of actual performance with the standards and finding out deviation if any.</a:t>
            </a:r>
          </a:p>
          <a:p>
            <a:pPr marL="457200" lvl="0" indent="-457200">
              <a:buFont typeface="+mj-lt"/>
              <a:buAutoNum type="arabicPeriod"/>
            </a:pPr>
            <a:r>
              <a:rPr lang="en-US" sz="2400" b="1" i="1" dirty="0"/>
              <a:t>Corrective action.</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lnSpcReduction="10000"/>
          </a:bodyPr>
          <a:lstStyle/>
          <a:p>
            <a:pPr algn="ctr" fontAlgn="base">
              <a:buNone/>
            </a:pPr>
            <a:r>
              <a:rPr lang="en-US" sz="2400" dirty="0" smtClean="0"/>
              <a:t>VARIOUS FUNCTIONS OF MANAGEMENT </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142976" y="1428736"/>
            <a:ext cx="7631961" cy="4493538"/>
          </a:xfrm>
          <a:prstGeom prst="rect">
            <a:avLst/>
          </a:prstGeom>
          <a:noFill/>
        </p:spPr>
        <p:txBody>
          <a:bodyPr wrap="square" rtlCol="0">
            <a:spAutoFit/>
          </a:bodyPr>
          <a:lstStyle/>
          <a:p>
            <a:r>
              <a:rPr lang="en-US" sz="2800" b="1" dirty="0" smtClean="0"/>
              <a:t>Controlling:</a:t>
            </a:r>
          </a:p>
          <a:p>
            <a:endParaRPr lang="en-US" sz="2400" dirty="0" smtClean="0"/>
          </a:p>
          <a:p>
            <a:r>
              <a:rPr lang="en-US" sz="2400" b="1" dirty="0" smtClean="0"/>
              <a:t>The Control Process (Example: Road Construction):</a:t>
            </a:r>
          </a:p>
          <a:p>
            <a:endParaRPr lang="en-US" sz="2400" dirty="0" smtClean="0"/>
          </a:p>
          <a:p>
            <a:pPr lvl="0"/>
            <a:r>
              <a:rPr lang="en-US" sz="2400" b="1" dirty="0" smtClean="0"/>
              <a:t>Set Standard:</a:t>
            </a:r>
            <a:r>
              <a:rPr lang="en-US" sz="2400" dirty="0" smtClean="0"/>
              <a:t> "We must lay 1km of road per week."</a:t>
            </a:r>
          </a:p>
          <a:p>
            <a:pPr lvl="0"/>
            <a:r>
              <a:rPr lang="en-US" sz="2400" b="1" dirty="0" smtClean="0"/>
              <a:t>Measure Actual:</a:t>
            </a:r>
            <a:r>
              <a:rPr lang="en-US" sz="2400" dirty="0" smtClean="0"/>
              <a:t> "This week we did only 600m."</a:t>
            </a:r>
          </a:p>
          <a:p>
            <a:pPr lvl="0"/>
            <a:r>
              <a:rPr lang="en-US" sz="2400" b="1" dirty="0" smtClean="0"/>
              <a:t>Compare:</a:t>
            </a:r>
            <a:r>
              <a:rPr lang="en-US" sz="2400" dirty="0" smtClean="0"/>
              <a:t> "Deviation of -400m."</a:t>
            </a:r>
          </a:p>
          <a:p>
            <a:pPr lvl="0"/>
            <a:r>
              <a:rPr lang="en-US" sz="2400" b="1" dirty="0" smtClean="0"/>
              <a:t>Analyze Cause:</a:t>
            </a:r>
            <a:r>
              <a:rPr lang="en-US" sz="2400" dirty="0" smtClean="0"/>
              <a:t> "Heavy rain stopped work for 2 days."</a:t>
            </a:r>
          </a:p>
          <a:p>
            <a:pPr lvl="0"/>
            <a:r>
              <a:rPr lang="en-US" sz="2400" b="1" dirty="0" smtClean="0"/>
              <a:t>Corrective Action:</a:t>
            </a:r>
            <a:r>
              <a:rPr lang="en-US" sz="2400" dirty="0" smtClean="0"/>
              <a:t> "Work overtime next week to catch up."</a:t>
            </a:r>
          </a:p>
          <a:p>
            <a:pPr marL="457200" lvl="0" indent="-457200">
              <a:buFont typeface="+mj-lt"/>
              <a:buAutoNum type="arabicPeriod"/>
            </a:pPr>
            <a:endParaRPr lang="en-US" sz="2400" b="1" i="1" dirty="0"/>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fontScale="92500" lnSpcReduction="10000"/>
          </a:bodyPr>
          <a:lstStyle/>
          <a:p>
            <a:pPr algn="ctr" fontAlgn="base">
              <a:buNone/>
            </a:pPr>
            <a:r>
              <a:rPr lang="en-US" dirty="0" smtClean="0"/>
              <a:t>AREAS OF MANAGENET</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928802"/>
            <a:ext cx="8072462" cy="4647426"/>
          </a:xfrm>
          <a:prstGeom prst="rect">
            <a:avLst/>
          </a:prstGeom>
          <a:noFill/>
        </p:spPr>
        <p:txBody>
          <a:bodyPr wrap="square" rtlCol="0">
            <a:spAutoFit/>
          </a:bodyPr>
          <a:lstStyle/>
          <a:p>
            <a:pPr marL="457200" indent="-457200">
              <a:buAutoNum type="arabicPeriod"/>
            </a:pPr>
            <a:r>
              <a:rPr lang="en-US" sz="2000" b="1" dirty="0" smtClean="0"/>
              <a:t>Human resource management:</a:t>
            </a:r>
          </a:p>
          <a:p>
            <a:pPr marL="457200" indent="-457200">
              <a:buAutoNum type="arabicPeriod"/>
            </a:pPr>
            <a:endParaRPr lang="en-US" sz="2000" dirty="0" smtClean="0"/>
          </a:p>
          <a:p>
            <a:r>
              <a:rPr lang="en-US" sz="2000" dirty="0" smtClean="0"/>
              <a:t>Human resource development or personnel management or manpower management is concerned with obtaining and maintaining of a satisfactory and satisfied work force i.e., employees. It is a specialized branch of management concerned with ‘man management’.</a:t>
            </a:r>
          </a:p>
          <a:p>
            <a:endParaRPr lang="en-US" sz="2000" dirty="0" smtClean="0"/>
          </a:p>
          <a:p>
            <a:r>
              <a:rPr lang="en-US" sz="2000" dirty="0" smtClean="0"/>
              <a:t>The recruitment, placement, induction, orientation, training, promotion, motivation, performance appraisal, wage and salary, retirement, transfer, merit-rating, industrial relations, working conditions, trade unions, safety and welfare schemes of employees are included in personnel management. The object of personnel management is to create and promote team spirit among workers and managers.</a:t>
            </a:r>
          </a:p>
          <a:p>
            <a:pPr lvl="0"/>
            <a:endParaRPr lang="en-US" dirty="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fontScale="92500" lnSpcReduction="10000"/>
          </a:bodyPr>
          <a:lstStyle/>
          <a:p>
            <a:pPr algn="ctr" fontAlgn="base">
              <a:buNone/>
            </a:pPr>
            <a:r>
              <a:rPr lang="en-US" dirty="0" smtClean="0"/>
              <a:t>AREAS OF MANAGENET</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571612"/>
            <a:ext cx="8072462" cy="6186309"/>
          </a:xfrm>
          <a:prstGeom prst="rect">
            <a:avLst/>
          </a:prstGeom>
          <a:noFill/>
        </p:spPr>
        <p:txBody>
          <a:bodyPr wrap="square" rtlCol="0">
            <a:spAutoFit/>
          </a:bodyPr>
          <a:lstStyle/>
          <a:p>
            <a:r>
              <a:rPr lang="en-US" sz="2000" b="1" dirty="0" smtClean="0"/>
              <a:t>2.    Production management:</a:t>
            </a:r>
          </a:p>
          <a:p>
            <a:endParaRPr lang="en-US" sz="2000" dirty="0" smtClean="0"/>
          </a:p>
          <a:p>
            <a:r>
              <a:rPr lang="en-US" sz="2000" dirty="0" smtClean="0"/>
              <a:t>Production management refers to planning, organization, direction, coordination and control of the production function in such a way that desired goods and services could be produced at the right time, in right quantity, and at the right cost. Some authors treat material, purchase and inventory management as part of production management. Production management involves the following functions: </a:t>
            </a:r>
          </a:p>
          <a:p>
            <a:r>
              <a:rPr lang="en-US" sz="2000" dirty="0" smtClean="0"/>
              <a:t>(a) Product planning and development,</a:t>
            </a:r>
          </a:p>
          <a:p>
            <a:r>
              <a:rPr lang="en-US" sz="2000" dirty="0" smtClean="0"/>
              <a:t> </a:t>
            </a:r>
          </a:p>
          <a:p>
            <a:r>
              <a:rPr lang="en-US" sz="2000" dirty="0" smtClean="0"/>
              <a:t>(b) Plant location, layout and maintenance,</a:t>
            </a:r>
          </a:p>
          <a:p>
            <a:r>
              <a:rPr lang="en-US" sz="2000" dirty="0" smtClean="0"/>
              <a:t> </a:t>
            </a:r>
          </a:p>
          <a:p>
            <a:r>
              <a:rPr lang="en-US" sz="2000" dirty="0" smtClean="0"/>
              <a:t>(c) Production systems and machines,</a:t>
            </a:r>
          </a:p>
          <a:p>
            <a:r>
              <a:rPr lang="en-US" sz="2000" dirty="0" smtClean="0"/>
              <a:t> </a:t>
            </a:r>
          </a:p>
          <a:p>
            <a:r>
              <a:rPr lang="en-US" sz="2000" dirty="0" smtClean="0"/>
              <a:t>(d) Management of purchase and storage of materials,</a:t>
            </a:r>
          </a:p>
          <a:p>
            <a:r>
              <a:rPr lang="en-US" sz="2000" dirty="0" smtClean="0"/>
              <a:t> </a:t>
            </a:r>
          </a:p>
          <a:p>
            <a:r>
              <a:rPr lang="en-US" sz="2000" dirty="0" smtClean="0"/>
              <a:t>(e) Ensuring effective production control.</a:t>
            </a:r>
          </a:p>
          <a:p>
            <a:endParaRPr lang="en-US" sz="2000" dirty="0" smtClean="0"/>
          </a:p>
          <a:p>
            <a:pPr lvl="0"/>
            <a:endParaRPr lang="en-US" dirty="0"/>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fontScale="92500" lnSpcReduction="10000"/>
          </a:bodyPr>
          <a:lstStyle/>
          <a:p>
            <a:pPr algn="ctr" fontAlgn="base">
              <a:buNone/>
            </a:pPr>
            <a:r>
              <a:rPr lang="en-US" dirty="0" smtClean="0"/>
              <a:t>AREAS OF MANAGENET</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00240"/>
            <a:ext cx="8072462" cy="4647426"/>
          </a:xfrm>
          <a:prstGeom prst="rect">
            <a:avLst/>
          </a:prstGeom>
          <a:noFill/>
        </p:spPr>
        <p:txBody>
          <a:bodyPr wrap="square" rtlCol="0">
            <a:spAutoFit/>
          </a:bodyPr>
          <a:lstStyle/>
          <a:p>
            <a:r>
              <a:rPr lang="en-US" sz="2000" b="1" dirty="0" smtClean="0"/>
              <a:t>3.    Office management:</a:t>
            </a:r>
          </a:p>
          <a:p>
            <a:endParaRPr lang="en-US" sz="2000" dirty="0" smtClean="0"/>
          </a:p>
          <a:p>
            <a:r>
              <a:rPr lang="en-US" sz="2000" dirty="0" smtClean="0"/>
              <a:t>Office management can be defined as, “the organization of an office in order to achieve a specified purpose and to make the best use of the personnel by using the most appropriate machines and equipment, the best possible methods of work and by providing the most suitable environment.”</a:t>
            </a:r>
          </a:p>
          <a:p>
            <a:endParaRPr lang="en-US" sz="2000" dirty="0" smtClean="0"/>
          </a:p>
          <a:p>
            <a:r>
              <a:rPr lang="en-US" sz="2000" dirty="0" smtClean="0"/>
              <a:t>The main topics of office management are: office accommodation, layout and environment, communication, handling correspondence and mail, typing and duplicating, record management and filing, indexing, forms and stationary, machines and equipments, O &amp; M, office reporting, work measurement and office supervision.</a:t>
            </a:r>
          </a:p>
          <a:p>
            <a:endParaRPr lang="en-US" sz="2000" dirty="0" smtClean="0"/>
          </a:p>
          <a:p>
            <a:pPr lvl="0"/>
            <a:endParaRPr lang="en-US"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fontScale="92500" lnSpcReduction="10000"/>
          </a:bodyPr>
          <a:lstStyle/>
          <a:p>
            <a:pPr algn="ctr" fontAlgn="base">
              <a:buNone/>
            </a:pPr>
            <a:r>
              <a:rPr lang="en-US" dirty="0" smtClean="0"/>
              <a:t>AREAS OF MANAGENET</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500175"/>
            <a:ext cx="8072462" cy="6186309"/>
          </a:xfrm>
          <a:prstGeom prst="rect">
            <a:avLst/>
          </a:prstGeom>
          <a:noFill/>
        </p:spPr>
        <p:txBody>
          <a:bodyPr wrap="square" rtlCol="0">
            <a:spAutoFit/>
          </a:bodyPr>
          <a:lstStyle/>
          <a:p>
            <a:r>
              <a:rPr lang="en-US" sz="2000" b="1" dirty="0" smtClean="0"/>
              <a:t>4. Financial management:</a:t>
            </a:r>
            <a:endParaRPr lang="en-US" sz="2000" dirty="0" smtClean="0"/>
          </a:p>
          <a:p>
            <a:r>
              <a:rPr lang="en-US" sz="2000" dirty="0" smtClean="0"/>
              <a:t>Financial management can be looked upon as the study of relationship between the raising of funds and the deployment of funds. The subject matter of financial management is: capital budgeting cost of capital, portfolio management, dividend policy, short and long term sources of finance. </a:t>
            </a:r>
          </a:p>
          <a:p>
            <a:endParaRPr lang="en-US" sz="2000" dirty="0" smtClean="0"/>
          </a:p>
          <a:p>
            <a:r>
              <a:rPr lang="en-US" sz="2000" dirty="0" smtClean="0"/>
              <a:t>Financial management involves mainly three decisions pertaining to:</a:t>
            </a:r>
          </a:p>
          <a:p>
            <a:r>
              <a:rPr lang="en-US" sz="2000" dirty="0" smtClean="0"/>
              <a:t> </a:t>
            </a:r>
          </a:p>
          <a:p>
            <a:r>
              <a:rPr lang="en-US" sz="2000" dirty="0" smtClean="0">
                <a:latin typeface="Adobe Fan Heiti Std B" panose="020B0700000000000000" pitchFamily="34" charset="-128"/>
                <a:ea typeface="Adobe Fan Heiti Std B" panose="020B0700000000000000" pitchFamily="34" charset="-128"/>
              </a:rPr>
              <a:t>1</a:t>
            </a:r>
            <a:r>
              <a:rPr lang="en-US" sz="2000" dirty="0" smtClean="0"/>
              <a:t>. </a:t>
            </a:r>
            <a:r>
              <a:rPr lang="en-US" sz="2000" b="1" dirty="0" smtClean="0"/>
              <a:t>Investment policies</a:t>
            </a:r>
            <a:r>
              <a:rPr lang="en-US" sz="2000" dirty="0" smtClean="0"/>
              <a:t>:	It dictates the process associated with capital budgeting and expenditures. All proposals to spend money are ranked and investment decisions are taken whether to sanction money for these proposed ventures or not.</a:t>
            </a:r>
          </a:p>
          <a:p>
            <a:r>
              <a:rPr lang="en-US" sz="2000" dirty="0" smtClean="0"/>
              <a:t>2. </a:t>
            </a:r>
            <a:r>
              <a:rPr lang="en-US" sz="2000" b="1" dirty="0" smtClean="0"/>
              <a:t>Methods of financing</a:t>
            </a:r>
            <a:r>
              <a:rPr lang="en-US" sz="2000" dirty="0" smtClean="0"/>
              <a:t>:    A proper mix of short and long term financing is ensured in order to provide necessary funds for proposed ventures at a minimum risk to the enterprise. </a:t>
            </a:r>
          </a:p>
          <a:p>
            <a:r>
              <a:rPr lang="en-US" sz="2000" dirty="0" smtClean="0"/>
              <a:t>3. </a:t>
            </a:r>
            <a:r>
              <a:rPr lang="en-US" sz="2000" b="1" dirty="0" smtClean="0"/>
              <a:t>Dividend decisions</a:t>
            </a:r>
            <a:r>
              <a:rPr lang="en-US" sz="2000" dirty="0" smtClean="0"/>
              <a:t>:    This decision affects the amount paid to shareholders and distribution of additional shares of stock.</a:t>
            </a:r>
          </a:p>
          <a:p>
            <a:endParaRPr lang="en-US" sz="2000" dirty="0" smtClean="0"/>
          </a:p>
          <a:p>
            <a:pPr lvl="0"/>
            <a:endParaRPr lang="en-US" dirty="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857232"/>
            <a:ext cx="7498080" cy="1214446"/>
          </a:xfrm>
        </p:spPr>
        <p:txBody>
          <a:bodyPr>
            <a:normAutofit fontScale="92500" lnSpcReduction="10000"/>
          </a:bodyPr>
          <a:lstStyle/>
          <a:p>
            <a:pPr algn="ctr" fontAlgn="base">
              <a:buNone/>
            </a:pPr>
            <a:r>
              <a:rPr lang="en-US" dirty="0" smtClean="0"/>
              <a:t>AREAS OF MANAGENET</a:t>
            </a:r>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00240"/>
            <a:ext cx="8072462" cy="5262979"/>
          </a:xfrm>
          <a:prstGeom prst="rect">
            <a:avLst/>
          </a:prstGeom>
          <a:noFill/>
        </p:spPr>
        <p:txBody>
          <a:bodyPr wrap="square" rtlCol="0">
            <a:spAutoFit/>
          </a:bodyPr>
          <a:lstStyle/>
          <a:p>
            <a:r>
              <a:rPr lang="en-US" sz="2000" b="1" dirty="0" smtClean="0"/>
              <a:t>5. Marketing management:</a:t>
            </a:r>
          </a:p>
          <a:p>
            <a:endParaRPr lang="en-US" sz="2000" dirty="0" smtClean="0"/>
          </a:p>
          <a:p>
            <a:r>
              <a:rPr lang="en-US" sz="2000" dirty="0" smtClean="0"/>
              <a:t>Philip </a:t>
            </a:r>
            <a:r>
              <a:rPr lang="en-US" sz="2000" dirty="0" err="1" smtClean="0"/>
              <a:t>Kotler</a:t>
            </a:r>
            <a:r>
              <a:rPr lang="en-US" sz="2000" dirty="0" smtClean="0"/>
              <a:t> views marketing as a social and managerial process by which individuals and group obtain what they need and want through creating and exchanging products and values with others. American Marketing Association defines market­ing management as the “process of planning and executing the conception, pricing, promotion and distribution of ideas, goods and services to create exchange that satisfy individual and organizational objectives.”</a:t>
            </a:r>
          </a:p>
          <a:p>
            <a:r>
              <a:rPr lang="en-US" sz="2000" dirty="0" smtClean="0"/>
              <a:t> </a:t>
            </a:r>
          </a:p>
          <a:p>
            <a:r>
              <a:rPr lang="en-US" sz="2000" dirty="0" smtClean="0"/>
              <a:t>The course content of marketing management generally includes: marketing concept, consumer </a:t>
            </a:r>
            <a:r>
              <a:rPr lang="en-US" sz="2000" dirty="0" err="1" smtClean="0"/>
              <a:t>behaviour</a:t>
            </a:r>
            <a:r>
              <a:rPr lang="en-US" sz="2000" dirty="0" smtClean="0"/>
              <a:t>, marketing mix, market segmentation, product and price decisions, promotion and physical distribution, marketing research and information, international marketing etc.</a:t>
            </a:r>
          </a:p>
          <a:p>
            <a:endParaRPr lang="en-US" sz="2000" dirty="0" smtClean="0"/>
          </a:p>
          <a:p>
            <a:pPr lvl="0"/>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00240"/>
            <a:ext cx="8072462" cy="4339650"/>
          </a:xfrm>
          <a:prstGeom prst="rect">
            <a:avLst/>
          </a:prstGeom>
          <a:noFill/>
        </p:spPr>
        <p:txBody>
          <a:bodyPr wrap="square" rtlCol="0">
            <a:spAutoFit/>
          </a:bodyPr>
          <a:lstStyle/>
          <a:p>
            <a:pPr fontAlgn="base"/>
            <a:r>
              <a:rPr lang="en-US" sz="2000" b="1" dirty="0" smtClean="0"/>
              <a:t>Type  </a:t>
            </a:r>
            <a:r>
              <a:rPr lang="en-US" sz="2000" b="1" dirty="0" smtClean="0">
                <a:latin typeface="Adobe Gothic Std B" panose="020B0800000000000000" pitchFamily="34" charset="-128"/>
                <a:ea typeface="Adobe Gothic Std B" panose="020B0800000000000000" pitchFamily="34" charset="-128"/>
              </a:rPr>
              <a:t>1</a:t>
            </a:r>
            <a:r>
              <a:rPr lang="en-US" sz="2000" b="1" dirty="0" smtClean="0"/>
              <a:t>.     Line Organization:</a:t>
            </a:r>
          </a:p>
          <a:p>
            <a:pPr fontAlgn="base"/>
            <a:endParaRPr lang="en-US" sz="2000" dirty="0" smtClean="0"/>
          </a:p>
          <a:p>
            <a:pPr fontAlgn="base"/>
            <a:r>
              <a:rPr lang="en-US" sz="2000" dirty="0" smtClean="0"/>
              <a:t>Line organization is the simplest and oldest form of organization structure. It is called as military or departmental or scalar type of organization. Under this system, authority flows directly and vertically from the top of the managerial hierarchy ‘down to different levels of managers and subordinates and down to the operative level of workers.</a:t>
            </a:r>
          </a:p>
          <a:p>
            <a:pPr fontAlgn="base"/>
            <a:endParaRPr lang="en-US" sz="2000" dirty="0" smtClean="0"/>
          </a:p>
          <a:p>
            <a:pPr fontAlgn="base"/>
            <a:r>
              <a:rPr lang="en-US" sz="2000" dirty="0" smtClean="0"/>
              <a:t>Line organization clearly identifies authority, responsibility and accountability at each level. The personnel in Line organization are directly involved in achieving the objectives of the organization.</a:t>
            </a:r>
          </a:p>
          <a:p>
            <a:endParaRPr lang="en-US" sz="2000" dirty="0" smtClean="0"/>
          </a:p>
          <a:p>
            <a:pPr lvl="0"/>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pic>
        <p:nvPicPr>
          <p:cNvPr id="6" name="Picture 5" descr="Line Organisation">
            <a:hlinkClick r:id="rId2"/>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a:xfrm>
            <a:off x="1000100" y="1813138"/>
            <a:ext cx="7500990" cy="504486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643050"/>
            <a:ext cx="8072462" cy="6186309"/>
          </a:xfrm>
          <a:prstGeom prst="rect">
            <a:avLst/>
          </a:prstGeom>
          <a:noFill/>
        </p:spPr>
        <p:txBody>
          <a:bodyPr wrap="square" rtlCol="0">
            <a:spAutoFit/>
          </a:bodyPr>
          <a:lstStyle/>
          <a:p>
            <a:pPr fontAlgn="base"/>
            <a:r>
              <a:rPr lang="en-US" sz="2000" b="1" dirty="0" smtClean="0"/>
              <a:t>Advantages of Line Organization:</a:t>
            </a:r>
          </a:p>
          <a:p>
            <a:pPr fontAlgn="base"/>
            <a:endParaRPr lang="en-US" sz="2000" dirty="0" smtClean="0"/>
          </a:p>
          <a:p>
            <a:pPr marL="457200" indent="-457200" fontAlgn="base">
              <a:buFont typeface="+mj-lt"/>
              <a:buAutoNum type="alphaLcParenR"/>
            </a:pPr>
            <a:r>
              <a:rPr lang="en-US" sz="2000" dirty="0" smtClean="0"/>
              <a:t>The line organization structure is very simple to understand and simple to operate.</a:t>
            </a:r>
          </a:p>
          <a:p>
            <a:pPr marL="457200" indent="-457200" fontAlgn="base">
              <a:buFont typeface="+mj-lt"/>
              <a:buAutoNum type="alphaLcParenR"/>
            </a:pPr>
            <a:r>
              <a:rPr lang="en-US" sz="2000" dirty="0" smtClean="0"/>
              <a:t>Communication is fast and easy and feedback can be acted upon faster.</a:t>
            </a:r>
          </a:p>
          <a:p>
            <a:pPr marL="457200" indent="-457200" fontAlgn="base">
              <a:buFont typeface="+mj-lt"/>
              <a:buAutoNum type="alphaLcParenR"/>
            </a:pPr>
            <a:r>
              <a:rPr lang="en-US" sz="2000" dirty="0" smtClean="0"/>
              <a:t>Responsibility is fixed and unified at each level and authority and accountability are clear-cut, hence each individual knows to whom he is responsible and who is or in truth responsible to him.</a:t>
            </a:r>
          </a:p>
          <a:p>
            <a:pPr marL="457200" indent="-457200" fontAlgn="base">
              <a:buFont typeface="+mj-lt"/>
              <a:buAutoNum type="alphaLcParenR"/>
            </a:pPr>
            <a:r>
              <a:rPr lang="en-US" sz="2000" dirty="0" smtClean="0"/>
              <a:t>Since it is especially useful when the company is small in size, it provides for greater control and discipline in the organization.</a:t>
            </a:r>
          </a:p>
          <a:p>
            <a:pPr marL="457200" indent="-457200" fontAlgn="base">
              <a:buFont typeface="+mj-lt"/>
              <a:buAutoNum type="alphaLcParenR"/>
            </a:pPr>
            <a:r>
              <a:rPr lang="en-US" sz="2000" dirty="0" smtClean="0"/>
              <a:t>It makes rapid decisions and effective coordination possible. So it is economic and effective.</a:t>
            </a:r>
          </a:p>
          <a:p>
            <a:pPr marL="457200" indent="-457200" fontAlgn="base">
              <a:buFont typeface="+mj-lt"/>
              <a:buAutoNum type="alphaLcParenR"/>
            </a:pPr>
            <a:r>
              <a:rPr lang="en-US" sz="2000" dirty="0" smtClean="0"/>
              <a:t>The people in line type of organization get to know each other better and tend to feel close to each other.</a:t>
            </a:r>
          </a:p>
          <a:p>
            <a:pPr marL="457200" indent="-457200" fontAlgn="base">
              <a:buFont typeface="+mj-lt"/>
              <a:buAutoNum type="alphaLcParenR"/>
            </a:pPr>
            <a:r>
              <a:rPr lang="en-US" sz="2000" dirty="0" smtClean="0"/>
              <a:t>The system is capable of adjusting itself to changing conditions for the simple reason that each executive has sole responsibility in his own sphere.</a:t>
            </a:r>
          </a:p>
          <a:p>
            <a:endParaRPr lang="en-US" sz="2000" dirty="0" smtClean="0"/>
          </a:p>
          <a:p>
            <a:pPr lvl="0"/>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71678"/>
            <a:ext cx="8072462" cy="4955203"/>
          </a:xfrm>
          <a:prstGeom prst="rect">
            <a:avLst/>
          </a:prstGeom>
          <a:noFill/>
        </p:spPr>
        <p:txBody>
          <a:bodyPr wrap="square" rtlCol="0">
            <a:spAutoFit/>
          </a:bodyPr>
          <a:lstStyle/>
          <a:p>
            <a:pPr fontAlgn="base"/>
            <a:r>
              <a:rPr lang="en-US" sz="2000" b="1" dirty="0" smtClean="0"/>
              <a:t>Disadvantages of Line Organization:</a:t>
            </a:r>
          </a:p>
          <a:p>
            <a:pPr fontAlgn="base"/>
            <a:endParaRPr lang="en-US" sz="2000" dirty="0" smtClean="0"/>
          </a:p>
          <a:p>
            <a:pPr marL="457200" indent="-457200" fontAlgn="base">
              <a:buFont typeface="+mj-lt"/>
              <a:buAutoNum type="alphaLcParenR"/>
            </a:pPr>
            <a:r>
              <a:rPr lang="en-US" sz="2000" dirty="0" smtClean="0"/>
              <a:t>It is a rigid and inflexible form of organization.</a:t>
            </a:r>
          </a:p>
          <a:p>
            <a:pPr marL="457200" indent="-457200" fontAlgn="base">
              <a:buFont typeface="+mj-lt"/>
              <a:buAutoNum type="alphaLcParenR"/>
            </a:pPr>
            <a:r>
              <a:rPr lang="en-US" sz="2000" dirty="0" smtClean="0"/>
              <a:t>There is a tendency for line authority to become dictatorial.</a:t>
            </a:r>
          </a:p>
          <a:p>
            <a:pPr marL="457200" indent="-457200" fontAlgn="base">
              <a:buFont typeface="+mj-lt"/>
              <a:buAutoNum type="alphaLcParenR"/>
            </a:pPr>
            <a:r>
              <a:rPr lang="en-US" sz="2000" dirty="0" smtClean="0"/>
              <a:t>It overloads the executive with pressing activities so that long-range planning and policy formulation are often neglected.,</a:t>
            </a:r>
          </a:p>
          <a:p>
            <a:pPr marL="457200" indent="-457200" fontAlgn="base">
              <a:buFont typeface="+mj-lt"/>
              <a:buAutoNum type="alphaLcParenR"/>
            </a:pPr>
            <a:r>
              <a:rPr lang="en-US" sz="2000" dirty="0" smtClean="0"/>
              <a:t>There is no provision for specialists and specialization, which is essential for growth and optimization.</a:t>
            </a:r>
          </a:p>
          <a:p>
            <a:pPr marL="457200" indent="-457200" fontAlgn="base">
              <a:buFont typeface="+mj-lt"/>
              <a:buAutoNum type="alphaLcParenR"/>
            </a:pPr>
            <a:r>
              <a:rPr lang="en-US" sz="2000" dirty="0" smtClean="0"/>
              <a:t>Different departments may be much interested in their self-interests, rather than overall organizational interests and welfare.</a:t>
            </a:r>
          </a:p>
          <a:p>
            <a:pPr marL="457200" indent="-457200" fontAlgn="base">
              <a:buFont typeface="+mj-lt"/>
              <a:buAutoNum type="alphaLcParenR"/>
            </a:pPr>
            <a:r>
              <a:rPr lang="en-US" sz="2000" dirty="0" smtClean="0"/>
              <a:t>It is likely to encourage nepotism.</a:t>
            </a:r>
          </a:p>
          <a:p>
            <a:pPr marL="457200" indent="-457200" fontAlgn="base">
              <a:buFont typeface="+mj-lt"/>
              <a:buAutoNum type="alphaLcParenR"/>
            </a:pPr>
            <a:r>
              <a:rPr lang="en-US" sz="2000" dirty="0" smtClean="0"/>
              <a:t>It does not provide any means by which a good worker may be rewarded and a bad one punished.</a:t>
            </a:r>
          </a:p>
          <a:p>
            <a:endParaRPr lang="en-US" sz="2000" dirty="0" smtClean="0"/>
          </a:p>
          <a:p>
            <a:pPr lvl="0"/>
            <a:endParaRPr lang="en-US"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18263"/>
            <a:ext cx="8072462" cy="4955203"/>
          </a:xfrm>
          <a:prstGeom prst="rect">
            <a:avLst/>
          </a:prstGeom>
          <a:noFill/>
        </p:spPr>
        <p:txBody>
          <a:bodyPr wrap="square" rtlCol="0">
            <a:spAutoFit/>
          </a:bodyPr>
          <a:lstStyle/>
          <a:p>
            <a:pPr fontAlgn="base"/>
            <a:r>
              <a:rPr lang="en-US" sz="2400" b="1" dirty="0" smtClean="0"/>
              <a:t>Type 2.      Functional Organisation:</a:t>
            </a:r>
          </a:p>
          <a:p>
            <a:pPr fontAlgn="base"/>
            <a:endParaRPr lang="en-US" sz="2000" b="1" dirty="0" smtClean="0"/>
          </a:p>
          <a:p>
            <a:r>
              <a:rPr lang="en-US" sz="2400" dirty="0" smtClean="0"/>
              <a:t>The functional organisation was evolved by Frederick Winslow Taylor while he was working as a foreman. He suggested eight foremen, four in factory and four in planning division as under.</a:t>
            </a:r>
          </a:p>
          <a:p>
            <a:endParaRPr lang="en-US" sz="2400" dirty="0" smtClean="0"/>
          </a:p>
          <a:p>
            <a:r>
              <a:rPr lang="en-US" sz="2400" b="1" dirty="0" smtClean="0"/>
              <a:t>1. Factory Division:</a:t>
            </a:r>
          </a:p>
          <a:p>
            <a:r>
              <a:rPr lang="en-US" sz="2400" dirty="0" smtClean="0"/>
              <a:t>(i) The gang boss,</a:t>
            </a:r>
          </a:p>
          <a:p>
            <a:r>
              <a:rPr lang="en-US" sz="2400" dirty="0" smtClean="0"/>
              <a:t>(ii) The speed boss,</a:t>
            </a:r>
          </a:p>
          <a:p>
            <a:r>
              <a:rPr lang="en-US" sz="2400" dirty="0" smtClean="0"/>
              <a:t>(iii) The inspector, and</a:t>
            </a:r>
          </a:p>
          <a:p>
            <a:r>
              <a:rPr lang="en-US" sz="2400" dirty="0" smtClean="0"/>
              <a:t>(iv) The maintenance or repair boss.</a:t>
            </a:r>
          </a:p>
          <a:p>
            <a:endParaRPr lang="en-US" sz="2000" dirty="0" smtClean="0"/>
          </a:p>
          <a:p>
            <a:pPr lvl="0"/>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976288" y="1984048"/>
            <a:ext cx="8072462" cy="4770537"/>
          </a:xfrm>
          <a:prstGeom prst="rect">
            <a:avLst/>
          </a:prstGeom>
          <a:noFill/>
        </p:spPr>
        <p:txBody>
          <a:bodyPr wrap="square" rtlCol="0">
            <a:spAutoFit/>
          </a:bodyPr>
          <a:lstStyle/>
          <a:p>
            <a:pPr fontAlgn="base"/>
            <a:r>
              <a:rPr lang="en-US" sz="2400" b="1" dirty="0" smtClean="0"/>
              <a:t>Functional Organisation </a:t>
            </a:r>
            <a:r>
              <a:rPr lang="en-GB" altLang="en-US" sz="2400" b="1" dirty="0" smtClean="0"/>
              <a:t>(continue)</a:t>
            </a:r>
            <a:r>
              <a:rPr lang="en-US" sz="2400" b="1" dirty="0" smtClean="0"/>
              <a:t>:</a:t>
            </a:r>
          </a:p>
          <a:p>
            <a:pPr fontAlgn="base"/>
            <a:endParaRPr lang="en-US" sz="2000" b="1" dirty="0" smtClean="0"/>
          </a:p>
          <a:p>
            <a:r>
              <a:rPr lang="en-US" sz="2400" b="1" dirty="0" smtClean="0"/>
              <a:t>2. Planning Division:</a:t>
            </a:r>
          </a:p>
          <a:p>
            <a:r>
              <a:rPr lang="en-US" sz="2400" dirty="0" smtClean="0"/>
              <a:t>(</a:t>
            </a:r>
            <a:r>
              <a:rPr lang="en-US" sz="2400" dirty="0" err="1" smtClean="0"/>
              <a:t>i</a:t>
            </a:r>
            <a:r>
              <a:rPr lang="en-US" sz="2400" dirty="0" smtClean="0"/>
              <a:t>) Route Clerk,</a:t>
            </a:r>
          </a:p>
          <a:p>
            <a:r>
              <a:rPr lang="en-US" sz="2400" dirty="0" smtClean="0"/>
              <a:t>(ii) Instruction card clerk,</a:t>
            </a:r>
          </a:p>
          <a:p>
            <a:r>
              <a:rPr lang="en-US" sz="2400" dirty="0" smtClean="0"/>
              <a:t>(iii) Time and cost clerk, and</a:t>
            </a:r>
          </a:p>
          <a:p>
            <a:r>
              <a:rPr lang="en-US" sz="2400" dirty="0" smtClean="0"/>
              <a:t>(iv) The shop disciplinarian.</a:t>
            </a:r>
          </a:p>
          <a:p>
            <a:endParaRPr lang="en-IN" sz="2400" dirty="0" smtClean="0"/>
          </a:p>
          <a:p>
            <a:endParaRPr lang="en-US" sz="2400" dirty="0" smtClean="0"/>
          </a:p>
          <a:p>
            <a:pPr lvl="0"/>
            <a:r>
              <a:rPr lang="en-US" sz="2400" dirty="0" smtClean="0"/>
              <a:t>He </a:t>
            </a:r>
            <a:r>
              <a:rPr lang="en-US" sz="2400" dirty="0"/>
              <a:t>evolved his functional </a:t>
            </a:r>
            <a:r>
              <a:rPr lang="en-US" sz="2400" dirty="0" smtClean="0"/>
              <a:t>organization system by dividing </a:t>
            </a:r>
            <a:r>
              <a:rPr lang="en-US" sz="2400" dirty="0"/>
              <a:t>the work of management </a:t>
            </a:r>
            <a:r>
              <a:rPr lang="en-US" sz="2400" dirty="0" smtClean="0"/>
              <a:t>in such a way so that </a:t>
            </a:r>
            <a:r>
              <a:rPr lang="en-US" sz="2400" dirty="0"/>
              <a:t>each </a:t>
            </a:r>
            <a:r>
              <a:rPr lang="en-US" sz="2400" dirty="0" smtClean="0"/>
              <a:t>man has </a:t>
            </a:r>
            <a:r>
              <a:rPr lang="en-US" sz="2400" dirty="0"/>
              <a:t>as few functions as possible to perform.”</a:t>
            </a:r>
          </a:p>
          <a:p>
            <a:pPr lvl="0"/>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976288" y="1984048"/>
            <a:ext cx="8072462" cy="3354765"/>
          </a:xfrm>
          <a:prstGeom prst="rect">
            <a:avLst/>
          </a:prstGeom>
          <a:noFill/>
        </p:spPr>
        <p:txBody>
          <a:bodyPr wrap="square" rtlCol="0">
            <a:spAutoFit/>
          </a:bodyPr>
          <a:lstStyle/>
          <a:p>
            <a:pPr fontAlgn="base"/>
            <a:r>
              <a:rPr lang="en-US" sz="2400" b="1" dirty="0" smtClean="0"/>
              <a:t>Functional Organisation </a:t>
            </a:r>
            <a:r>
              <a:rPr lang="en-GB" altLang="en-US" sz="2400" b="1" dirty="0" smtClean="0"/>
              <a:t>(continue)</a:t>
            </a:r>
            <a:r>
              <a:rPr lang="en-US" sz="2400" b="1" dirty="0" smtClean="0"/>
              <a:t>:</a:t>
            </a:r>
          </a:p>
          <a:p>
            <a:pPr fontAlgn="base"/>
            <a:endParaRPr lang="en-US" sz="2400" b="1" dirty="0" smtClean="0"/>
          </a:p>
          <a:p>
            <a:pPr lvl="0"/>
            <a:r>
              <a:rPr lang="en-US" sz="2400" dirty="0" smtClean="0"/>
              <a:t>According </a:t>
            </a:r>
            <a:r>
              <a:rPr lang="en-US" sz="2400" dirty="0"/>
              <a:t>to Terry, </a:t>
            </a:r>
            <a:endParaRPr lang="en-US" sz="2400" dirty="0" smtClean="0"/>
          </a:p>
          <a:p>
            <a:pPr lvl="0"/>
            <a:r>
              <a:rPr lang="en-US" sz="2400" dirty="0" smtClean="0"/>
              <a:t>	</a:t>
            </a:r>
            <a:r>
              <a:rPr lang="en-US" sz="2400" b="1" i="1" dirty="0" smtClean="0"/>
              <a:t>“</a:t>
            </a:r>
            <a:r>
              <a:rPr lang="en-US" sz="2400" b="1" i="1" dirty="0"/>
              <a:t>Functional organisation refers to the organisation which is divided into a number of functions such as finance, production, sales, personnel, office and research and development and each of functions are performed by an expert”.</a:t>
            </a:r>
            <a:r>
              <a:rPr lang="en-US" sz="2400" dirty="0"/>
              <a:t> </a:t>
            </a:r>
            <a:endParaRPr lang="en-US" sz="2400" dirty="0" smtClean="0"/>
          </a:p>
          <a:p>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976288" y="1984048"/>
            <a:ext cx="8072462" cy="3846195"/>
          </a:xfrm>
          <a:prstGeom prst="rect">
            <a:avLst/>
          </a:prstGeom>
          <a:noFill/>
        </p:spPr>
        <p:txBody>
          <a:bodyPr wrap="square" rtlCol="0">
            <a:spAutoFit/>
          </a:bodyPr>
          <a:lstStyle/>
          <a:p>
            <a:pPr fontAlgn="base"/>
            <a:r>
              <a:rPr lang="en-GB" altLang="en-US" sz="2400" b="1" dirty="0" smtClean="0"/>
              <a:t>Features of</a:t>
            </a:r>
            <a:r>
              <a:rPr lang="en-US" sz="2400" b="1" dirty="0" smtClean="0"/>
              <a:t>  Functional Organisation:</a:t>
            </a:r>
          </a:p>
          <a:p>
            <a:pPr fontAlgn="base"/>
            <a:endParaRPr lang="en-US" sz="2000" b="1" dirty="0" smtClean="0"/>
          </a:p>
          <a:p>
            <a:pPr lvl="0"/>
            <a:r>
              <a:rPr lang="en-US" sz="2000" dirty="0"/>
              <a:t>a. Each worker receives instructions not only from one superior, but also from a group of specialists.</a:t>
            </a:r>
          </a:p>
          <a:p>
            <a:pPr lvl="0"/>
            <a:r>
              <a:rPr lang="en-US" sz="2000" dirty="0"/>
              <a:t>b. Three types of authority relationships are in the functional organisation such as line authority, staff authority and functional authority.</a:t>
            </a:r>
          </a:p>
          <a:p>
            <a:pPr lvl="0"/>
            <a:r>
              <a:rPr lang="en-US" sz="2000" dirty="0"/>
              <a:t>c. Staff specialists are given the authority to decide and do things in a limited way.</a:t>
            </a:r>
          </a:p>
          <a:p>
            <a:pPr lvl="0"/>
            <a:r>
              <a:rPr lang="en-US" sz="2000" dirty="0"/>
              <a:t>d. The scope of the work is kept limited but the area of authority is left unlimited.</a:t>
            </a:r>
          </a:p>
          <a:p>
            <a:pPr lvl="0"/>
            <a:r>
              <a:rPr lang="en-US" sz="2000" dirty="0"/>
              <a:t>e. There is a grouping of activities of the enterprise into certain major functional departments.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15798"/>
            <a:ext cx="8072462" cy="4461510"/>
          </a:xfrm>
          <a:prstGeom prst="rect">
            <a:avLst/>
          </a:prstGeom>
          <a:noFill/>
        </p:spPr>
        <p:txBody>
          <a:bodyPr wrap="square" rtlCol="0">
            <a:spAutoFit/>
          </a:bodyPr>
          <a:lstStyle/>
          <a:p>
            <a:pPr fontAlgn="base"/>
            <a:r>
              <a:rPr lang="en-GB" altLang="en-US" sz="2400" b="1" dirty="0" smtClean="0"/>
              <a:t>Advantages of</a:t>
            </a:r>
            <a:r>
              <a:rPr lang="en-US" sz="2400" b="1" dirty="0" smtClean="0"/>
              <a:t>  Functional Organisation:</a:t>
            </a:r>
          </a:p>
          <a:p>
            <a:pPr fontAlgn="base"/>
            <a:endParaRPr lang="en-US" sz="2000" b="1" dirty="0" smtClean="0"/>
          </a:p>
          <a:p>
            <a:pPr lvl="0"/>
            <a:r>
              <a:rPr lang="en-US" sz="2000" dirty="0"/>
              <a:t>a. Each manager is an expert in his field. He has to perform a limited number of functions. So complete specialisation will be in functional organisation.</a:t>
            </a:r>
          </a:p>
          <a:p>
            <a:pPr lvl="0"/>
            <a:r>
              <a:rPr lang="en-US" sz="2000" dirty="0"/>
              <a:t>b. The greater degree of specialisation leads the improvement in the quality of product.</a:t>
            </a:r>
          </a:p>
          <a:p>
            <a:pPr lvl="0"/>
            <a:r>
              <a:rPr lang="en-US" sz="2000" dirty="0"/>
              <a:t>c. Since the job requirements are definite and tangible, organisation can achieve the intensive utilisation of the principle of specialisation of labour at the managerial level.</a:t>
            </a:r>
          </a:p>
          <a:p>
            <a:pPr lvl="0"/>
            <a:r>
              <a:rPr lang="en-US" sz="2000" dirty="0"/>
              <a:t>d. Specialisation will lead for mass production and standardisation.</a:t>
            </a:r>
          </a:p>
          <a:p>
            <a:pPr lvl="0"/>
            <a:r>
              <a:rPr lang="en-US" sz="2000" dirty="0"/>
              <a:t>e. Since experts get sufficient time for creative thinking, planning and supervision are made efficient.</a:t>
            </a:r>
          </a:p>
          <a:p>
            <a:pPr lvl="0"/>
            <a:r>
              <a:rPr lang="en-US" sz="2000" dirty="0"/>
              <a:t>f. It increases the work satisfaction for specialists who presumably do what they like to do.</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2015798"/>
            <a:ext cx="8072462" cy="4154170"/>
          </a:xfrm>
          <a:prstGeom prst="rect">
            <a:avLst/>
          </a:prstGeom>
          <a:noFill/>
        </p:spPr>
        <p:txBody>
          <a:bodyPr wrap="square" rtlCol="0">
            <a:spAutoFit/>
          </a:bodyPr>
          <a:lstStyle/>
          <a:p>
            <a:pPr fontAlgn="base"/>
            <a:r>
              <a:rPr lang="en-GB" altLang="en-US" sz="2400" b="1" dirty="0" smtClean="0"/>
              <a:t>Disadvantages of</a:t>
            </a:r>
            <a:r>
              <a:rPr lang="en-US" sz="2400" b="1" dirty="0" smtClean="0"/>
              <a:t>  Functional Organisation:</a:t>
            </a:r>
          </a:p>
          <a:p>
            <a:pPr fontAlgn="base"/>
            <a:endParaRPr lang="en-US" sz="2000" b="1" dirty="0" smtClean="0"/>
          </a:p>
          <a:p>
            <a:pPr lvl="0"/>
            <a:r>
              <a:rPr lang="en-US" sz="2000" dirty="0"/>
              <a:t>a. Since there is no direct boss or controller of the workers, co-ordination is hard to achieve.</a:t>
            </a:r>
          </a:p>
          <a:p>
            <a:pPr lvl="0"/>
            <a:r>
              <a:rPr lang="en-US" sz="2000" dirty="0"/>
              <a:t>b. Since workers are under different bosses, discipline is hard to achieve. As results there will be low morale on the part of the workers.</a:t>
            </a:r>
          </a:p>
          <a:p>
            <a:pPr lvl="0"/>
            <a:r>
              <a:rPr lang="en-US" sz="2000" dirty="0"/>
              <a:t>c. The non-supervisory employees are uncertain as to whom they should turn for advice and aid when problem call for analysis.</a:t>
            </a:r>
          </a:p>
          <a:p>
            <a:pPr lvl="0"/>
            <a:r>
              <a:rPr lang="en-US" sz="2000" dirty="0"/>
              <a:t>d. Due to that control is divided, action cannot be taken immediately.</a:t>
            </a:r>
          </a:p>
          <a:p>
            <a:pPr lvl="0"/>
            <a:r>
              <a:rPr lang="en-US" sz="2000" dirty="0"/>
              <a:t>e. Since there will be many foreman of equal rank in the same department, the conflicts of leadership may arise.</a:t>
            </a:r>
          </a:p>
          <a:p>
            <a:pPr lvl="0"/>
            <a:r>
              <a:rPr lang="en-US" sz="2000" dirty="0"/>
              <a:t>f. It reduces the opportunities for the training of all-round executives to assume further leadership in the firm.</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Autofit/>
          </a:bodyPr>
          <a:lstStyle/>
          <a:p>
            <a:pPr algn="ctr" fontAlgn="base">
              <a:buNone/>
            </a:pPr>
            <a:r>
              <a:rPr lang="en-US" sz="2200" dirty="0" smtClean="0"/>
              <a:t>ORGANISATION STRUCTURE </a:t>
            </a:r>
          </a:p>
          <a:p>
            <a:pPr algn="ctr" fontAlgn="base">
              <a:buNone/>
            </a:pPr>
            <a:endParaRPr lang="en-US" sz="2200" dirty="0" smtClean="0"/>
          </a:p>
          <a:p>
            <a:pPr algn="ctr">
              <a:buNone/>
            </a:pPr>
            <a:endParaRPr lang="en-GB" sz="2200" dirty="0" smtClean="0"/>
          </a:p>
          <a:p>
            <a:pPr fontAlgn="base"/>
            <a:r>
              <a:rPr lang="en-US" sz="2200" dirty="0" smtClean="0"/>
              <a:t>According to Stanley Davis and Paul Lawrence matrix organization is “any organization that employs a multiple command system that includes not only the multiple command structure, but also related support mechanism and an associated organizational culture and behavior pattern.”</a:t>
            </a:r>
          </a:p>
          <a:p>
            <a:pPr fontAlgn="base"/>
            <a:r>
              <a:rPr lang="en-US" sz="2200" dirty="0" smtClean="0"/>
              <a:t>A matrix organization, also referred to as the “multiple command system” has two chains of command. One chain of command is functional in which the flow of authority is vertical.</a:t>
            </a:r>
          </a:p>
          <a:p>
            <a:pPr fontAlgn="base"/>
            <a:r>
              <a:rPr lang="en-US" sz="2200" dirty="0" smtClean="0"/>
              <a:t>The second chain is horizontal depicted by a project team, which is led by the project, or group manager who is an expert in his team’s assigned area of specialization.</a:t>
            </a:r>
          </a:p>
          <a:p>
            <a:pPr>
              <a:buNone/>
            </a:pPr>
            <a:endParaRPr lang="en-US" sz="2200" dirty="0" smtClean="0"/>
          </a:p>
          <a:p>
            <a:endParaRPr lang="en-US" sz="2200" dirty="0" smtClean="0"/>
          </a:p>
          <a:p>
            <a:pPr>
              <a:buNone/>
            </a:pPr>
            <a:endParaRPr lang="en-US" sz="2200" dirty="0" smtClean="0"/>
          </a:p>
          <a:p>
            <a:pPr>
              <a:buNone/>
            </a:pPr>
            <a:endParaRPr lang="en-US" sz="2200" dirty="0"/>
          </a:p>
        </p:txBody>
      </p:sp>
      <p:sp>
        <p:nvSpPr>
          <p:cNvPr id="5" name="TextBox 4"/>
          <p:cNvSpPr txBox="1"/>
          <p:nvPr/>
        </p:nvSpPr>
        <p:spPr>
          <a:xfrm>
            <a:off x="1071538" y="1714488"/>
            <a:ext cx="8072462" cy="738664"/>
          </a:xfrm>
          <a:prstGeom prst="rect">
            <a:avLst/>
          </a:prstGeom>
          <a:noFill/>
        </p:spPr>
        <p:txBody>
          <a:bodyPr wrap="square" rtlCol="0">
            <a:spAutoFit/>
          </a:bodyPr>
          <a:lstStyle/>
          <a:p>
            <a:pPr fontAlgn="base"/>
            <a:r>
              <a:rPr lang="en-US" sz="2400" b="1" dirty="0" smtClean="0"/>
              <a:t>Type 3    Matrix Organization:</a:t>
            </a:r>
          </a:p>
          <a:p>
            <a:pPr fontAlgn="base"/>
            <a:endParaRPr lang="en-US" b="1"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Autofit/>
          </a:bodyPr>
          <a:lstStyle/>
          <a:p>
            <a:pPr algn="ctr" fontAlgn="base">
              <a:buNone/>
            </a:pPr>
            <a:r>
              <a:rPr lang="en-US" sz="2200" dirty="0" smtClean="0"/>
              <a:t>ORGANISATION STRUCTURE </a:t>
            </a:r>
          </a:p>
          <a:p>
            <a:pPr algn="ctr" fontAlgn="base">
              <a:buNone/>
            </a:pPr>
            <a:endParaRPr lang="en-US" sz="2200" dirty="0" smtClean="0"/>
          </a:p>
          <a:p>
            <a:pPr algn="ctr">
              <a:buNone/>
            </a:pPr>
            <a:endParaRPr lang="en-GB" sz="2200" dirty="0" smtClean="0"/>
          </a:p>
          <a:p>
            <a:pPr fontAlgn="base"/>
            <a:r>
              <a:rPr lang="en-US" sz="2400" dirty="0" smtClean="0"/>
              <a:t>Since the matrix structure integrates the efforts of functional and project authority, the vertical and horizontal lines of authority are combination of the authority flows both down and across. The matrix form of organization is given below.</a:t>
            </a:r>
          </a:p>
          <a:p>
            <a:pPr>
              <a:buNone/>
            </a:pPr>
            <a:endParaRPr lang="en-US" sz="2200" dirty="0" smtClean="0"/>
          </a:p>
          <a:p>
            <a:endParaRPr lang="en-US" sz="2200" dirty="0" smtClean="0"/>
          </a:p>
          <a:p>
            <a:pPr>
              <a:buNone/>
            </a:pPr>
            <a:endParaRPr lang="en-US" sz="2200" dirty="0" smtClean="0"/>
          </a:p>
          <a:p>
            <a:pPr>
              <a:buNone/>
            </a:pPr>
            <a:endParaRPr lang="en-US" sz="2200" dirty="0"/>
          </a:p>
        </p:txBody>
      </p:sp>
      <p:sp>
        <p:nvSpPr>
          <p:cNvPr id="5" name="TextBox 4"/>
          <p:cNvSpPr txBox="1"/>
          <p:nvPr/>
        </p:nvSpPr>
        <p:spPr>
          <a:xfrm>
            <a:off x="1071538" y="1714488"/>
            <a:ext cx="8072462" cy="738664"/>
          </a:xfrm>
          <a:prstGeom prst="rect">
            <a:avLst/>
          </a:prstGeom>
          <a:noFill/>
        </p:spPr>
        <p:txBody>
          <a:bodyPr wrap="square" rtlCol="0">
            <a:spAutoFit/>
          </a:bodyPr>
          <a:lstStyle/>
          <a:p>
            <a:pPr fontAlgn="base"/>
            <a:r>
              <a:rPr lang="en-US" sz="2400" b="1" dirty="0" smtClean="0"/>
              <a:t>Matrix Organization:</a:t>
            </a:r>
          </a:p>
          <a:p>
            <a:pPr fontAlgn="base"/>
            <a:endParaRPr lang="en-US" b="1" dirty="0"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5" name="TextBox 4"/>
          <p:cNvSpPr txBox="1"/>
          <p:nvPr/>
        </p:nvSpPr>
        <p:spPr>
          <a:xfrm>
            <a:off x="1428728" y="785794"/>
            <a:ext cx="5429288" cy="738664"/>
          </a:xfrm>
          <a:prstGeom prst="rect">
            <a:avLst/>
          </a:prstGeom>
          <a:noFill/>
        </p:spPr>
        <p:txBody>
          <a:bodyPr wrap="square" rtlCol="0">
            <a:spAutoFit/>
          </a:bodyPr>
          <a:lstStyle/>
          <a:p>
            <a:pPr fontAlgn="base"/>
            <a:r>
              <a:rPr lang="en-US" sz="2400" b="1" dirty="0" smtClean="0"/>
              <a:t>Matrix Organization:</a:t>
            </a:r>
          </a:p>
          <a:p>
            <a:pPr fontAlgn="base"/>
            <a:endParaRPr lang="en-US" b="1" dirty="0" smtClean="0"/>
          </a:p>
        </p:txBody>
      </p:sp>
      <p:pic>
        <p:nvPicPr>
          <p:cNvPr id="6" name="Picture 5" descr="Matrix Organisation">
            <a:hlinkClick r:id="rId2"/>
          </p:cNvPr>
          <p:cNvPicPr/>
          <p:nvPr/>
        </p:nvPicPr>
        <p:blipFill>
          <a:blip r:embed="rId3">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a14="http://schemas.microsoft.com/office/drawing/2010/main" xmlns:wpsCustomData="http://www.wps.cn/officeDocument/2013/wpsCustomData" xmlns:wps="http://schemas.microsoft.com/office/word/2010/wordprocessingShape" xmlns:wpi="http://schemas.microsoft.com/office/word/2010/wordprocessingInk" xmlns:wpg="http://schemas.microsoft.com/office/word/2010/wordprocessingGroup" xmlns:w15="http://schemas.microsoft.com/office/word/2012/wordml" xmlns:w10="urn:schemas-microsoft-com:office:word" xmlns:w14="http://schemas.microsoft.com/office/word/2010/wordml" xmlns:w="http://schemas.openxmlformats.org/wordprocessingml/2006/main" xmlns:wp14="http://schemas.microsoft.com/office/word/2010/wordprocessingDrawing" xmlns:v="urn:schemas-microsoft-com:vml" xmlns:o="urn:schemas-microsoft-com:office:office" xmlns:mc="http://schemas.openxmlformats.org/markup-compatibility/2006" xmlns:wpc="http://schemas.microsoft.com/office/word/2010/wordprocessingCanvas" xmlns="" xmlns:pic="http://schemas.openxmlformats.org/drawingml/2006/picture" xmlns:lc="http://schemas.openxmlformats.org/drawingml/2006/lockedCanvas" val="0"/>
              </a:ext>
            </a:extLst>
          </a:blip>
          <a:srcRect/>
          <a:stretch>
            <a:fillRect/>
          </a:stretch>
        </p:blipFill>
        <p:spPr>
          <a:xfrm>
            <a:off x="1357290" y="1214422"/>
            <a:ext cx="7358114" cy="5643578"/>
          </a:xfrm>
          <a:prstGeom prst="rect">
            <a:avLst/>
          </a:prstGeom>
          <a:noFill/>
          <a:ln>
            <a:noFill/>
          </a:ln>
        </p:spPr>
      </p:pic>
      <p:sp>
        <p:nvSpPr>
          <p:cNvPr id="7" name="Content Placeholder 6"/>
          <p:cNvSpPr>
            <a:spLocks noGrp="1"/>
          </p:cNvSpPr>
          <p:nvPr>
            <p:ph idx="1"/>
          </p:nvPr>
        </p:nvSpPr>
        <p:spPr>
          <a:xfrm>
            <a:off x="1435608" y="1447800"/>
            <a:ext cx="1350442" cy="1409696"/>
          </a:xfrm>
        </p:spPr>
        <p:txBody>
          <a:bodyPr/>
          <a:lstStyle/>
          <a:p>
            <a:pPr>
              <a:buNone/>
            </a:pPr>
            <a:r>
              <a:rPr lang="en-IN" dirty="0" smtClean="0"/>
              <a:t> </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785926"/>
            <a:ext cx="8072462" cy="4154984"/>
          </a:xfrm>
          <a:prstGeom prst="rect">
            <a:avLst/>
          </a:prstGeom>
          <a:noFill/>
        </p:spPr>
        <p:txBody>
          <a:bodyPr wrap="square" rtlCol="0">
            <a:spAutoFit/>
          </a:bodyPr>
          <a:lstStyle/>
          <a:p>
            <a:pPr fontAlgn="base"/>
            <a:r>
              <a:rPr lang="en-GB" altLang="en-US" sz="2400" b="1" dirty="0" smtClean="0"/>
              <a:t>Advantages of</a:t>
            </a:r>
            <a:r>
              <a:rPr lang="en-US" sz="2400" b="1" dirty="0" smtClean="0"/>
              <a:t>  Matrix Organization:</a:t>
            </a:r>
          </a:p>
          <a:p>
            <a:pPr fontAlgn="base"/>
            <a:endParaRPr lang="en-US" sz="2000" b="1" dirty="0" smtClean="0"/>
          </a:p>
          <a:p>
            <a:pPr fontAlgn="base"/>
            <a:r>
              <a:rPr lang="en-US" sz="2000" dirty="0" smtClean="0"/>
              <a:t>1. Since there is both vertical and horizontal communication it increases the coordination and this coordination leads to greater and more effective control over operations.</a:t>
            </a:r>
          </a:p>
          <a:p>
            <a:pPr fontAlgn="base"/>
            <a:r>
              <a:rPr lang="en-US" sz="2000" dirty="0" smtClean="0"/>
              <a:t>2. Since the matrix </a:t>
            </a:r>
            <a:r>
              <a:rPr lang="en-US" sz="2000" dirty="0" err="1" smtClean="0"/>
              <a:t>organisation</a:t>
            </a:r>
            <a:r>
              <a:rPr lang="en-US" sz="2000" dirty="0" smtClean="0"/>
              <a:t> is handling a number of projects, available resources will be used fully.</a:t>
            </a:r>
          </a:p>
          <a:p>
            <a:pPr fontAlgn="base"/>
            <a:r>
              <a:rPr lang="en-US" sz="2000" dirty="0" smtClean="0"/>
              <a:t>3. It focuses the </a:t>
            </a:r>
            <a:r>
              <a:rPr lang="en-US" sz="2000" dirty="0" err="1" smtClean="0"/>
              <a:t>organisational</a:t>
            </a:r>
            <a:r>
              <a:rPr lang="en-US" sz="2000" dirty="0" smtClean="0"/>
              <a:t> resources on the specified projects, thus enabling better planning and control.</a:t>
            </a:r>
          </a:p>
          <a:p>
            <a:pPr fontAlgn="base"/>
            <a:r>
              <a:rPr lang="en-US" sz="2000" dirty="0" smtClean="0"/>
              <a:t>4. It is highly flexible as regards adherence to rules, procedures etc. Here experience is the best guide to establishing rules and procedures.</a:t>
            </a:r>
          </a:p>
          <a:p>
            <a:pPr fontAlgn="base"/>
            <a:r>
              <a:rPr lang="en-US" sz="2000" dirty="0" smtClean="0"/>
              <a:t>5. As any department or division has to harness its effort towards accomplishment of a single project, employees are effectively motivated.</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3" name="Content Placeholder 2"/>
          <p:cNvSpPr>
            <a:spLocks noGrp="1"/>
          </p:cNvSpPr>
          <p:nvPr>
            <p:ph idx="1"/>
          </p:nvPr>
        </p:nvSpPr>
        <p:spPr>
          <a:xfrm>
            <a:off x="1428728" y="1071546"/>
            <a:ext cx="7498080" cy="1214446"/>
          </a:xfrm>
        </p:spPr>
        <p:txBody>
          <a:bodyPr>
            <a:normAutofit fontScale="55000" lnSpcReduction="20000"/>
          </a:bodyPr>
          <a:lstStyle/>
          <a:p>
            <a:pPr algn="ctr" fontAlgn="base">
              <a:buNone/>
            </a:pPr>
            <a:r>
              <a:rPr lang="en-US" sz="4500" dirty="0" smtClean="0"/>
              <a:t>ORGANISATION STRUCTURE </a:t>
            </a:r>
          </a:p>
          <a:p>
            <a:pPr algn="ctr" fontAlgn="base">
              <a:buNone/>
            </a:pPr>
            <a:endParaRPr lang="en-US" dirty="0" smtClean="0"/>
          </a:p>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785926"/>
            <a:ext cx="8072462" cy="3231654"/>
          </a:xfrm>
          <a:prstGeom prst="rect">
            <a:avLst/>
          </a:prstGeom>
          <a:noFill/>
        </p:spPr>
        <p:txBody>
          <a:bodyPr wrap="square" rtlCol="0">
            <a:spAutoFit/>
          </a:bodyPr>
          <a:lstStyle/>
          <a:p>
            <a:pPr fontAlgn="base"/>
            <a:r>
              <a:rPr lang="en-GB" altLang="en-US" sz="2400" b="1" dirty="0" smtClean="0"/>
              <a:t>Disadvantages of</a:t>
            </a:r>
            <a:r>
              <a:rPr lang="en-US" sz="2400" b="1" dirty="0" smtClean="0"/>
              <a:t>  Matrix Organization:</a:t>
            </a:r>
          </a:p>
          <a:p>
            <a:pPr fontAlgn="base"/>
            <a:endParaRPr lang="en-US" sz="2000" b="1" dirty="0" smtClean="0"/>
          </a:p>
          <a:p>
            <a:pPr marL="457200" indent="-457200" fontAlgn="base">
              <a:buFont typeface="+mj-lt"/>
              <a:buAutoNum type="arabicPeriod"/>
            </a:pPr>
            <a:r>
              <a:rPr lang="en-US" sz="2000" dirty="0" smtClean="0"/>
              <a:t>Since, there is more than one supervisor for each worker, it causes confusion and conflicts and reduce effective control.</a:t>
            </a:r>
          </a:p>
          <a:p>
            <a:pPr marL="457200" indent="-457200" fontAlgn="base">
              <a:buFont typeface="+mj-lt"/>
              <a:buAutoNum type="arabicPeriod"/>
            </a:pPr>
            <a:endParaRPr lang="en-US" sz="2000" dirty="0" smtClean="0"/>
          </a:p>
          <a:p>
            <a:pPr marL="457200" indent="-457200" fontAlgn="base">
              <a:buFont typeface="+mj-lt"/>
              <a:buAutoNum type="arabicPeriod"/>
            </a:pPr>
            <a:r>
              <a:rPr lang="en-US" sz="2000" dirty="0" smtClean="0"/>
              <a:t>There is continuous communication both vertically as well horizontally, which increases paper work and costs.</a:t>
            </a:r>
          </a:p>
          <a:p>
            <a:pPr marL="457200" indent="-457200" fontAlgn="base">
              <a:buFont typeface="+mj-lt"/>
              <a:buAutoNum type="arabicPeriod"/>
            </a:pPr>
            <a:endParaRPr lang="en-US" sz="2000" dirty="0" smtClean="0"/>
          </a:p>
          <a:p>
            <a:pPr marL="457200" indent="-457200" fontAlgn="base">
              <a:buFont typeface="+mj-lt"/>
              <a:buAutoNum type="arabicPeriod"/>
            </a:pPr>
            <a:r>
              <a:rPr lang="en-US" sz="2000" dirty="0" smtClean="0"/>
              <a:t>It is difficult to achieve a balance below on the projects technical and administrative aspects.</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b="1" dirty="0" smtClean="0"/>
              <a:t>CHAPTER - </a:t>
            </a:r>
            <a:r>
              <a:rPr lang="en-US" sz="4000" b="1" dirty="0" smtClean="0">
                <a:latin typeface="Adobe Caslon Pro Bold" panose="0205070206050A020403" pitchFamily="18" charset="0"/>
              </a:rPr>
              <a:t>1</a:t>
            </a:r>
            <a:r>
              <a:rPr lang="en-US" dirty="0" smtClean="0"/>
              <a:t/>
            </a:r>
            <a:br>
              <a:rPr lang="en-US" dirty="0" smtClean="0"/>
            </a:br>
            <a:endParaRPr lang="en-US" dirty="0"/>
          </a:p>
        </p:txBody>
      </p:sp>
      <p:sp>
        <p:nvSpPr>
          <p:cNvPr id="6" name="Content Placeholder 5"/>
          <p:cNvSpPr>
            <a:spLocks noGrp="1"/>
          </p:cNvSpPr>
          <p:nvPr>
            <p:ph idx="1"/>
          </p:nvPr>
        </p:nvSpPr>
        <p:spPr>
          <a:xfrm>
            <a:off x="1000100" y="1857364"/>
            <a:ext cx="7498080" cy="981068"/>
          </a:xfrm>
        </p:spPr>
        <p:txBody>
          <a:bodyPr/>
          <a:lstStyle/>
          <a:p>
            <a:pPr algn="ctr">
              <a:buNone/>
            </a:pPr>
            <a:r>
              <a:rPr lang="en-IN" dirty="0" smtClean="0"/>
              <a:t>End of Chapter 1</a:t>
            </a:r>
            <a:endParaRPr lang="en-US" dirty="0"/>
          </a:p>
        </p:txBody>
      </p:sp>
      <p:sp>
        <p:nvSpPr>
          <p:cNvPr id="7" name="Rectangle 6"/>
          <p:cNvSpPr/>
          <p:nvPr/>
        </p:nvSpPr>
        <p:spPr>
          <a:xfrm>
            <a:off x="3143240" y="3000372"/>
            <a:ext cx="3835089"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Thank you.</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1643050"/>
            <a:ext cx="7498080" cy="1143000"/>
          </a:xfrm>
        </p:spPr>
        <p:txBody>
          <a:bodyPr>
            <a:normAutofit fontScale="90000"/>
          </a:bodyPr>
          <a:lstStyle/>
          <a:p>
            <a:pPr algn="ctr"/>
            <a:r>
              <a:rPr lang="en-US" sz="4000" b="1" u="sng" dirty="0" smtClean="0"/>
              <a:t>CHAPTER - </a:t>
            </a:r>
            <a:r>
              <a:rPr lang="en-US" sz="4000" b="1" u="sng" dirty="0" smtClean="0">
                <a:latin typeface="Adobe Caslon Pro Bold" panose="0205070206050A020403" pitchFamily="18" charset="0"/>
              </a:rPr>
              <a:t>2</a:t>
            </a:r>
            <a:r>
              <a:rPr lang="en-US" dirty="0" smtClean="0"/>
              <a:t/>
            </a:r>
            <a:br>
              <a:rPr lang="en-US" dirty="0" smtClean="0"/>
            </a:br>
            <a:endParaRPr lang="en-US" dirty="0"/>
          </a:p>
        </p:txBody>
      </p:sp>
      <p:sp>
        <p:nvSpPr>
          <p:cNvPr id="6" name="Content Placeholder 5"/>
          <p:cNvSpPr>
            <a:spLocks noGrp="1"/>
          </p:cNvSpPr>
          <p:nvPr>
            <p:ph idx="1"/>
          </p:nvPr>
        </p:nvSpPr>
        <p:spPr>
          <a:xfrm>
            <a:off x="1643042" y="3000372"/>
            <a:ext cx="7140922" cy="1195382"/>
          </a:xfrm>
        </p:spPr>
        <p:txBody>
          <a:bodyPr>
            <a:normAutofit/>
          </a:bodyPr>
          <a:lstStyle/>
          <a:p>
            <a:pPr>
              <a:buNone/>
            </a:pPr>
            <a:r>
              <a:rPr lang="en-GB" b="1" dirty="0" smtClean="0"/>
              <a:t>Self-Management and Development</a:t>
            </a:r>
            <a:endParaRPr lang="en-US" b="1"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5201424"/>
          </a:xfrm>
          <a:prstGeom prst="rect">
            <a:avLst/>
          </a:prstGeom>
          <a:noFill/>
        </p:spPr>
        <p:txBody>
          <a:bodyPr wrap="square" rtlCol="0">
            <a:spAutoFit/>
          </a:bodyPr>
          <a:lstStyle/>
          <a:p>
            <a:r>
              <a:rPr lang="en-IN" sz="2400" b="1" i="1" dirty="0" smtClean="0"/>
              <a:t>It is the process of keeping mind and body engaged at any age by activity pursuing experience and knowledge. </a:t>
            </a:r>
          </a:p>
          <a:p>
            <a:endParaRPr lang="en-IN" sz="2400" b="1" i="1" dirty="0" smtClean="0"/>
          </a:p>
          <a:p>
            <a:r>
              <a:rPr lang="en-IN" sz="2400" dirty="0" smtClean="0"/>
              <a:t>Life long learning recognises that learning is not confined to childhood or the classroom, but takes place throughout life and in a range of situations. Life long learning means learning resulting from integration of formal, non-formal and informal learning, so as to create ability for continuous life long development of quality of life. Learning is therefore part of life which takes place at all times and in all places. It is a continuous life long process, going on from birth to the end of our life, beginning with learning from families, communities, schools, religious institutions, workplaces, etc. </a:t>
            </a:r>
            <a:endParaRPr lang="en-US" sz="2400" dirty="0" smtClean="0"/>
          </a:p>
          <a:p>
            <a:pPr fontAlgn="base"/>
            <a:endParaRPr lang="en-US" sz="2000" b="1" dirty="0" smtClean="0"/>
          </a:p>
        </p:txBody>
      </p:sp>
      <p:sp>
        <p:nvSpPr>
          <p:cNvPr id="6" name="Title 5"/>
          <p:cNvSpPr>
            <a:spLocks noGrp="1"/>
          </p:cNvSpPr>
          <p:nvPr>
            <p:ph type="title"/>
          </p:nvPr>
        </p:nvSpPr>
        <p:spPr>
          <a:xfrm>
            <a:off x="1428728" y="285728"/>
            <a:ext cx="7498080" cy="1143000"/>
          </a:xfrm>
        </p:spPr>
        <p:txBody>
          <a:bodyPr>
            <a:normAutofit fontScale="90000"/>
          </a:bodyPr>
          <a:lstStyle/>
          <a:p>
            <a:r>
              <a:rPr lang="en-IN" b="1" dirty="0" smtClean="0"/>
              <a:t>Life Long Learning skills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3724096"/>
          </a:xfrm>
          <a:prstGeom prst="rect">
            <a:avLst/>
          </a:prstGeom>
          <a:noFill/>
        </p:spPr>
        <p:txBody>
          <a:bodyPr wrap="square" rtlCol="0">
            <a:spAutoFit/>
          </a:bodyPr>
          <a:lstStyle/>
          <a:p>
            <a:r>
              <a:rPr lang="en-IN" sz="2400" dirty="0" smtClean="0"/>
              <a:t>Learning of the 6 to 24 age group usually takes place in educational institutions, from primary and secondary to tertiary levels. The objective of learning in this period is the holistic development of learners in four aspects, namely : physical, intellectual, social capacity, emotional and mental development. Learning during the working life of the 25 to 60 age group can learn informally through the use of instructional media, mostly from their occupations, workplaces, colleagues, touring, mass media, information technologies, environment and nature. </a:t>
            </a:r>
            <a:endParaRPr lang="en-US" sz="2400" dirty="0" smtClean="0"/>
          </a:p>
          <a:p>
            <a:pPr fontAlgn="base"/>
            <a:endParaRPr lang="en-US" sz="2000" b="1" dirty="0" smtClean="0"/>
          </a:p>
        </p:txBody>
      </p:sp>
      <p:sp>
        <p:nvSpPr>
          <p:cNvPr id="6" name="Title 5"/>
          <p:cNvSpPr>
            <a:spLocks noGrp="1"/>
          </p:cNvSpPr>
          <p:nvPr>
            <p:ph type="title"/>
          </p:nvPr>
        </p:nvSpPr>
        <p:spPr>
          <a:xfrm>
            <a:off x="1428728" y="285728"/>
            <a:ext cx="7498080" cy="1143000"/>
          </a:xfrm>
        </p:spPr>
        <p:txBody>
          <a:bodyPr>
            <a:normAutofit fontScale="90000"/>
          </a:bodyPr>
          <a:lstStyle/>
          <a:p>
            <a:r>
              <a:rPr lang="en-IN" b="1" dirty="0" smtClean="0"/>
              <a:t>Life Long Learning skills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71546"/>
            <a:ext cx="8072462" cy="5632311"/>
          </a:xfrm>
          <a:prstGeom prst="rect">
            <a:avLst/>
          </a:prstGeom>
          <a:noFill/>
        </p:spPr>
        <p:txBody>
          <a:bodyPr wrap="square" rtlCol="0">
            <a:spAutoFit/>
          </a:bodyPr>
          <a:lstStyle/>
          <a:p>
            <a:r>
              <a:rPr lang="en-IN" sz="2400" b="1" dirty="0" smtClean="0"/>
              <a:t>Importance of life long learning : </a:t>
            </a:r>
          </a:p>
          <a:p>
            <a:endParaRPr lang="en-US" sz="2400" dirty="0" smtClean="0"/>
          </a:p>
          <a:p>
            <a:r>
              <a:rPr lang="en-IN" sz="2400" dirty="0" smtClean="0"/>
              <a:t>1. To remain competent for the benefit of your employer. </a:t>
            </a:r>
            <a:endParaRPr lang="en-US" sz="2400" dirty="0" smtClean="0"/>
          </a:p>
          <a:p>
            <a:r>
              <a:rPr lang="en-IN" sz="2400" dirty="0" smtClean="0"/>
              <a:t>2. To gain knowledge needed to move into a new area of business. </a:t>
            </a:r>
            <a:endParaRPr lang="en-US" sz="2400" dirty="0" smtClean="0"/>
          </a:p>
          <a:p>
            <a:r>
              <a:rPr lang="en-IN" sz="2400" dirty="0" smtClean="0"/>
              <a:t>3. To develop a skill needed for promotion, such as management expertise. </a:t>
            </a:r>
            <a:endParaRPr lang="en-US" sz="2400" dirty="0" smtClean="0"/>
          </a:p>
          <a:p>
            <a:r>
              <a:rPr lang="en-IN" sz="2400" dirty="0" smtClean="0"/>
              <a:t>4. To learn a new skill such as a new language. </a:t>
            </a:r>
            <a:endParaRPr lang="en-US" sz="2400" dirty="0" smtClean="0"/>
          </a:p>
          <a:p>
            <a:r>
              <a:rPr lang="en-IN" sz="2400" dirty="0" smtClean="0"/>
              <a:t>5. To remain up-to-date with new developments in your area of expertise. </a:t>
            </a:r>
            <a:endParaRPr lang="en-US" sz="2400" dirty="0" smtClean="0"/>
          </a:p>
          <a:p>
            <a:r>
              <a:rPr lang="en-IN" sz="2400" dirty="0" smtClean="0"/>
              <a:t>6. To keep abreast of new advances in technology. </a:t>
            </a:r>
            <a:endParaRPr lang="en-US" sz="2400" dirty="0" smtClean="0"/>
          </a:p>
          <a:p>
            <a:r>
              <a:rPr lang="en-IN" sz="2400" dirty="0" smtClean="0"/>
              <a:t>7. To help to adapt to change. </a:t>
            </a:r>
            <a:endParaRPr lang="en-US" sz="2400" dirty="0" smtClean="0"/>
          </a:p>
          <a:p>
            <a:r>
              <a:rPr lang="en-IN" sz="2400" dirty="0" smtClean="0"/>
              <a:t>8. To an enriching life of self fulfilment. </a:t>
            </a:r>
            <a:endParaRPr lang="en-US" sz="2400" dirty="0" smtClean="0"/>
          </a:p>
          <a:p>
            <a:r>
              <a:rPr lang="en-IN" sz="2400" dirty="0" smtClean="0"/>
              <a:t>9. To make world a better place. </a:t>
            </a:r>
            <a:endParaRPr lang="en-US" sz="2400" dirty="0" smtClean="0"/>
          </a:p>
          <a:p>
            <a:r>
              <a:rPr lang="en-IN" sz="2400" dirty="0" smtClean="0"/>
              <a:t>10. To increase self confidence.</a:t>
            </a:r>
            <a:endParaRPr lang="en-US" sz="2400" dirty="0"/>
          </a:p>
        </p:txBody>
      </p:sp>
      <p:sp>
        <p:nvSpPr>
          <p:cNvPr id="6" name="Title 5"/>
          <p:cNvSpPr>
            <a:spLocks noGrp="1"/>
          </p:cNvSpPr>
          <p:nvPr>
            <p:ph type="title"/>
          </p:nvPr>
        </p:nvSpPr>
        <p:spPr>
          <a:xfrm>
            <a:off x="1428728" y="285728"/>
            <a:ext cx="7498080" cy="1143000"/>
          </a:xfrm>
        </p:spPr>
        <p:txBody>
          <a:bodyPr>
            <a:normAutofit fontScale="90000"/>
          </a:bodyPr>
          <a:lstStyle/>
          <a:p>
            <a:r>
              <a:rPr lang="en-IN" b="1" dirty="0" smtClean="0"/>
              <a:t>Life Long Learning skills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4154984"/>
          </a:xfrm>
          <a:prstGeom prst="rect">
            <a:avLst/>
          </a:prstGeom>
          <a:noFill/>
        </p:spPr>
        <p:txBody>
          <a:bodyPr wrap="square" rtlCol="0">
            <a:spAutoFit/>
          </a:bodyPr>
          <a:lstStyle/>
          <a:p>
            <a:r>
              <a:rPr lang="en-IN" sz="2400" dirty="0" smtClean="0"/>
              <a:t>It is nothing but strengthening the capacity of subjective dimensions of personality to interact more and more effectively and efficiently. The personality development is the. inner growth contributing to the outer excellence. The development of personality is purely subjective. Any improvement in the objective sense will not result in over all efficiency or excellence, unless there is significant transformation in our personality because the key to objective improvement lies in the subjective growth. Subjective growth is the integrated, well defined and well planned development of all the faculties in which our personality operates. </a:t>
            </a:r>
            <a:endParaRPr lang="en-US" sz="2000" b="1" dirty="0" smtClean="0"/>
          </a:p>
        </p:txBody>
      </p:sp>
      <p:sp>
        <p:nvSpPr>
          <p:cNvPr id="6" name="Title 5"/>
          <p:cNvSpPr>
            <a:spLocks noGrp="1"/>
          </p:cNvSpPr>
          <p:nvPr>
            <p:ph type="title"/>
          </p:nvPr>
        </p:nvSpPr>
        <p:spPr>
          <a:xfrm>
            <a:off x="1357290" y="642918"/>
            <a:ext cx="7498080" cy="1143000"/>
          </a:xfrm>
        </p:spPr>
        <p:txBody>
          <a:bodyPr>
            <a:normAutofit fontScale="90000"/>
          </a:bodyPr>
          <a:lstStyle/>
          <a:p>
            <a:r>
              <a:rPr lang="en-IN" sz="4000" b="1" dirty="0" smtClean="0"/>
              <a:t>PERSONALITY DEVELOPMENT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2677656"/>
          </a:xfrm>
          <a:prstGeom prst="rect">
            <a:avLst/>
          </a:prstGeom>
          <a:noFill/>
        </p:spPr>
        <p:txBody>
          <a:bodyPr wrap="square" rtlCol="0">
            <a:spAutoFit/>
          </a:bodyPr>
          <a:lstStyle/>
          <a:p>
            <a:r>
              <a:rPr lang="en-IN" sz="2400" dirty="0" smtClean="0"/>
              <a:t>there are five steps to complete personality. </a:t>
            </a:r>
            <a:endParaRPr lang="en-US" sz="2400" dirty="0" smtClean="0"/>
          </a:p>
          <a:p>
            <a:r>
              <a:rPr lang="en-IN" sz="2400" dirty="0" smtClean="0"/>
              <a:t>1. Healthy body </a:t>
            </a:r>
            <a:endParaRPr lang="en-US" sz="2400" dirty="0" smtClean="0"/>
          </a:p>
          <a:p>
            <a:r>
              <a:rPr lang="en-IN" sz="2400" dirty="0" smtClean="0"/>
              <a:t>2. Healthy mind</a:t>
            </a:r>
            <a:endParaRPr lang="en-US" sz="2400" dirty="0" smtClean="0"/>
          </a:p>
          <a:p>
            <a:r>
              <a:rPr lang="en-IN" sz="2400" dirty="0" smtClean="0"/>
              <a:t>3. Healthy thoughts   (1-3 Plays vital role -To good life)</a:t>
            </a:r>
            <a:endParaRPr lang="en-US" sz="2400" dirty="0" smtClean="0"/>
          </a:p>
          <a:p>
            <a:r>
              <a:rPr lang="en-IN" sz="2400" dirty="0" smtClean="0"/>
              <a:t> </a:t>
            </a:r>
            <a:endParaRPr lang="en-US" sz="2400" dirty="0" smtClean="0"/>
          </a:p>
          <a:p>
            <a:r>
              <a:rPr lang="en-IN" sz="2400" dirty="0" smtClean="0"/>
              <a:t>4. Will power </a:t>
            </a:r>
            <a:endParaRPr lang="en-US" sz="2400" dirty="0" smtClean="0"/>
          </a:p>
          <a:p>
            <a:r>
              <a:rPr lang="en-IN" sz="2400" dirty="0" smtClean="0"/>
              <a:t>5. Work efficiency (4-5   Plays vital role -To earn a good life)</a:t>
            </a:r>
            <a:endParaRPr lang="en-US" sz="2400" dirty="0"/>
          </a:p>
        </p:txBody>
      </p:sp>
      <p:sp>
        <p:nvSpPr>
          <p:cNvPr id="6" name="Title 5"/>
          <p:cNvSpPr>
            <a:spLocks noGrp="1"/>
          </p:cNvSpPr>
          <p:nvPr>
            <p:ph type="title"/>
          </p:nvPr>
        </p:nvSpPr>
        <p:spPr>
          <a:xfrm>
            <a:off x="1357290" y="642918"/>
            <a:ext cx="7498080" cy="1143000"/>
          </a:xfrm>
        </p:spPr>
        <p:txBody>
          <a:bodyPr>
            <a:normAutofit fontScale="90000"/>
          </a:bodyPr>
          <a:lstStyle/>
          <a:p>
            <a:r>
              <a:rPr lang="en-IN" sz="4000" b="1" dirty="0" smtClean="0"/>
              <a:t>PERSONALITY DEVELOPMENT </a:t>
            </a:r>
            <a:r>
              <a:rPr lang="en-US" dirty="0" smtClean="0"/>
              <a:t/>
            </a:r>
            <a:br>
              <a:rPr lang="en-US" dirty="0" smtClean="0"/>
            </a:br>
            <a:r>
              <a:rPr lang="en-US" dirty="0" smtClean="0"/>
              <a:t/>
            </a:r>
            <a:br>
              <a:rPr lang="en-US" dirty="0" smtClean="0"/>
            </a:br>
            <a:endParaRPr lang="en-US" dirty="0"/>
          </a:p>
        </p:txBody>
      </p:sp>
      <p:pic>
        <p:nvPicPr>
          <p:cNvPr id="7" name="Picture 6" descr="PD.jpg"/>
          <p:cNvPicPr>
            <a:picLocks noChangeAspect="1"/>
          </p:cNvPicPr>
          <p:nvPr/>
        </p:nvPicPr>
        <p:blipFill>
          <a:blip r:embed="rId2"/>
          <a:stretch>
            <a:fillRect/>
          </a:stretch>
        </p:blipFill>
        <p:spPr>
          <a:xfrm>
            <a:off x="3043484" y="4000504"/>
            <a:ext cx="3140672" cy="2857496"/>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85860"/>
            <a:ext cx="8072462" cy="5262979"/>
          </a:xfrm>
          <a:prstGeom prst="rect">
            <a:avLst/>
          </a:prstGeom>
          <a:noFill/>
        </p:spPr>
        <p:txBody>
          <a:bodyPr wrap="square" rtlCol="0">
            <a:spAutoFit/>
          </a:bodyPr>
          <a:lstStyle/>
          <a:p>
            <a:r>
              <a:rPr lang="en-IN" sz="2400" dirty="0" smtClean="0"/>
              <a:t>If a man can interact with another man more cordially or in a more friendly manner than in the past, it means his personality has developed. —</a:t>
            </a:r>
            <a:r>
              <a:rPr lang="en-IN" sz="2400" b="1" dirty="0" smtClean="0"/>
              <a:t>Individual level</a:t>
            </a:r>
            <a:r>
              <a:rPr lang="en-IN" sz="2400" dirty="0" smtClean="0"/>
              <a:t> </a:t>
            </a:r>
            <a:endParaRPr lang="en-US" sz="2400" dirty="0" smtClean="0"/>
          </a:p>
          <a:p>
            <a:r>
              <a:rPr lang="en-IN" sz="2400" dirty="0" smtClean="0"/>
              <a:t>If a man behaves with his family members in more intimate way than in the past, it means his personality has developed. —</a:t>
            </a:r>
            <a:r>
              <a:rPr lang="en-IN" sz="2400" b="1" dirty="0" smtClean="0"/>
              <a:t>Family</a:t>
            </a:r>
            <a:r>
              <a:rPr lang="en-IN" sz="2400" dirty="0" smtClean="0"/>
              <a:t> </a:t>
            </a:r>
            <a:endParaRPr lang="en-US" sz="2400" dirty="0" smtClean="0"/>
          </a:p>
          <a:p>
            <a:r>
              <a:rPr lang="en-IN" sz="2400" dirty="0" smtClean="0"/>
              <a:t>If a worker works more efficiently than in the past. that means his personality is developed to that extent. — </a:t>
            </a:r>
            <a:r>
              <a:rPr lang="en-IN" sz="2400" b="1" dirty="0" smtClean="0"/>
              <a:t>Organization </a:t>
            </a:r>
            <a:endParaRPr lang="en-US" sz="2400" dirty="0" smtClean="0"/>
          </a:p>
          <a:p>
            <a:r>
              <a:rPr lang="en-IN" sz="2400" dirty="0" smtClean="0"/>
              <a:t>If the citizen of a particular society discharges his duty more effectively with more spirit of dedication, then it means his personality is developed to that extent. —</a:t>
            </a:r>
            <a:r>
              <a:rPr lang="en-IN" sz="2400" b="1" dirty="0" smtClean="0"/>
              <a:t>Society</a:t>
            </a:r>
            <a:r>
              <a:rPr lang="en-IN" sz="2400" dirty="0" smtClean="0"/>
              <a:t> </a:t>
            </a:r>
            <a:endParaRPr lang="en-US" sz="2400" dirty="0" smtClean="0"/>
          </a:p>
          <a:p>
            <a:r>
              <a:rPr lang="en-IN" sz="2400" dirty="0" smtClean="0"/>
              <a:t>If a man identifies with his nation, feels for the nation and develops patriotic spirit, then it means his personality is developed to that extent. —</a:t>
            </a:r>
            <a:r>
              <a:rPr lang="en-IN" sz="2400" b="1" dirty="0" smtClean="0"/>
              <a:t>Nation </a:t>
            </a:r>
            <a:endParaRPr lang="en-US" sz="2400" dirty="0" smtClean="0"/>
          </a:p>
        </p:txBody>
      </p:sp>
      <p:sp>
        <p:nvSpPr>
          <p:cNvPr id="6" name="Title 5"/>
          <p:cNvSpPr>
            <a:spLocks noGrp="1"/>
          </p:cNvSpPr>
          <p:nvPr>
            <p:ph type="title"/>
          </p:nvPr>
        </p:nvSpPr>
        <p:spPr>
          <a:xfrm>
            <a:off x="1357290" y="642918"/>
            <a:ext cx="7498080" cy="1143000"/>
          </a:xfrm>
        </p:spPr>
        <p:txBody>
          <a:bodyPr>
            <a:normAutofit fontScale="90000"/>
          </a:bodyPr>
          <a:lstStyle/>
          <a:p>
            <a:r>
              <a:rPr lang="en-IN" sz="4000" b="1" dirty="0" smtClean="0"/>
              <a:t>PERSONALITY DEVELOPMENT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4893647"/>
          </a:xfrm>
          <a:prstGeom prst="rect">
            <a:avLst/>
          </a:prstGeom>
          <a:noFill/>
        </p:spPr>
        <p:txBody>
          <a:bodyPr wrap="square" rtlCol="0">
            <a:spAutoFit/>
          </a:bodyPr>
          <a:lstStyle/>
          <a:p>
            <a:r>
              <a:rPr lang="en-IN" sz="2400" dirty="0" smtClean="0"/>
              <a:t>If a man is able to identify himself with every human being in the universe, it means his personality has developed to that extent. —</a:t>
            </a:r>
            <a:r>
              <a:rPr lang="en-IN" sz="2400" b="1" dirty="0" smtClean="0"/>
              <a:t>Universe</a:t>
            </a:r>
            <a:endParaRPr lang="en-US" sz="2400" dirty="0" smtClean="0"/>
          </a:p>
          <a:p>
            <a:r>
              <a:rPr lang="en-IN" sz="2400" dirty="0" smtClean="0"/>
              <a:t>Not only the personality development helps one to grow the working efficiency and behavioural expression, it also helps him </a:t>
            </a:r>
            <a:r>
              <a:rPr lang="en-IN" sz="2400" b="1" dirty="0" smtClean="0"/>
              <a:t>to transcend from one level to another</a:t>
            </a:r>
            <a:r>
              <a:rPr lang="en-IN" sz="2400" dirty="0" smtClean="0"/>
              <a:t>. </a:t>
            </a:r>
          </a:p>
          <a:p>
            <a:endParaRPr lang="en-IN" sz="2400" b="1" dirty="0" smtClean="0"/>
          </a:p>
          <a:p>
            <a:r>
              <a:rPr lang="en-IN" sz="2400" i="1" dirty="0" smtClean="0"/>
              <a:t>There are a number of different theories about how personality develops. Some of these major perspectives on personality include :</a:t>
            </a:r>
          </a:p>
          <a:p>
            <a:endParaRPr lang="en-US" sz="2400" i="1" dirty="0" smtClean="0"/>
          </a:p>
          <a:p>
            <a:r>
              <a:rPr lang="en-IN" sz="2400" dirty="0" smtClean="0"/>
              <a:t>1. </a:t>
            </a:r>
            <a:r>
              <a:rPr lang="en-IN" sz="2400" b="1" dirty="0" smtClean="0"/>
              <a:t>Type theories</a:t>
            </a:r>
            <a:r>
              <a:rPr lang="en-IN" sz="2400" dirty="0" smtClean="0"/>
              <a:t> are the early perspectives, on personality. These theories suggested that there are a limited number of "personality types", which are related to biological influences.</a:t>
            </a:r>
            <a:endParaRPr lang="en-US" sz="2400" b="1" dirty="0" smtClean="0"/>
          </a:p>
        </p:txBody>
      </p:sp>
      <p:sp>
        <p:nvSpPr>
          <p:cNvPr id="6" name="Title 5"/>
          <p:cNvSpPr>
            <a:spLocks noGrp="1"/>
          </p:cNvSpPr>
          <p:nvPr>
            <p:ph type="title"/>
          </p:nvPr>
        </p:nvSpPr>
        <p:spPr>
          <a:xfrm>
            <a:off x="1357290" y="642918"/>
            <a:ext cx="7498080" cy="1143000"/>
          </a:xfrm>
        </p:spPr>
        <p:txBody>
          <a:bodyPr>
            <a:normAutofit fontScale="90000"/>
          </a:bodyPr>
          <a:lstStyle/>
          <a:p>
            <a:r>
              <a:rPr lang="en-IN" sz="4000" b="1" dirty="0" smtClean="0"/>
              <a:t>PERSONALITY DEVELOPMENT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5262979"/>
          </a:xfrm>
          <a:prstGeom prst="rect">
            <a:avLst/>
          </a:prstGeom>
          <a:noFill/>
        </p:spPr>
        <p:txBody>
          <a:bodyPr wrap="square" rtlCol="0">
            <a:spAutoFit/>
          </a:bodyPr>
          <a:lstStyle/>
          <a:p>
            <a:r>
              <a:rPr lang="en-IN" sz="2400" dirty="0" smtClean="0"/>
              <a:t>2. </a:t>
            </a:r>
            <a:r>
              <a:rPr lang="en-IN" sz="2400" b="1" dirty="0" smtClean="0"/>
              <a:t>Trait theories</a:t>
            </a:r>
            <a:r>
              <a:rPr lang="en-IN" sz="2400" dirty="0" smtClean="0"/>
              <a:t> viewed personality as the result of internal characteristics that are genetically based. </a:t>
            </a:r>
            <a:endParaRPr lang="en-US" sz="2400" dirty="0" smtClean="0"/>
          </a:p>
          <a:p>
            <a:r>
              <a:rPr lang="en-IN" sz="2400" dirty="0" smtClean="0"/>
              <a:t>3. </a:t>
            </a:r>
            <a:r>
              <a:rPr lang="en-IN" sz="2400" b="1" dirty="0" smtClean="0"/>
              <a:t>Psychodynamic theories</a:t>
            </a:r>
            <a:r>
              <a:rPr lang="en-IN" sz="2400" dirty="0" smtClean="0"/>
              <a:t> of personality are heavily influenced by the work of Sigmund Freud and emphasize the influence of the unconsciousness on personality. </a:t>
            </a:r>
            <a:endParaRPr lang="en-US" sz="2400" dirty="0" smtClean="0"/>
          </a:p>
          <a:p>
            <a:r>
              <a:rPr lang="en-IN" sz="2400" dirty="0" smtClean="0"/>
              <a:t>4. </a:t>
            </a:r>
            <a:r>
              <a:rPr lang="en-IN" sz="2400" b="1" dirty="0" smtClean="0"/>
              <a:t>Behavioural theories</a:t>
            </a:r>
            <a:r>
              <a:rPr lang="en-IN" sz="2400" dirty="0" smtClean="0"/>
              <a:t> suggest that personality is a result of interaction between the individual and the environment. Behavioural theorists study observable and measurable behaviours, rejecting theories that take internal thoughts and feelings into account. Behavioural theorists include B.F. Skinner and John Watson. </a:t>
            </a:r>
            <a:endParaRPr lang="en-US" sz="2400" dirty="0" smtClean="0"/>
          </a:p>
          <a:p>
            <a:r>
              <a:rPr lang="en-IN" sz="2400" dirty="0" smtClean="0"/>
              <a:t>5. </a:t>
            </a:r>
            <a:r>
              <a:rPr lang="en-IN" sz="2400" b="1" dirty="0" smtClean="0"/>
              <a:t>Humanist theories</a:t>
            </a:r>
            <a:r>
              <a:rPr lang="en-IN" sz="2400" dirty="0" smtClean="0"/>
              <a:t> emphasize the importance of free will and individual experience in the development of personality. Humanist theorists include Carl Rogers and Abraham Maslow. </a:t>
            </a:r>
            <a:endParaRPr lang="en-US" sz="2400" b="1" dirty="0" smtClean="0"/>
          </a:p>
        </p:txBody>
      </p:sp>
      <p:sp>
        <p:nvSpPr>
          <p:cNvPr id="6" name="Title 5"/>
          <p:cNvSpPr>
            <a:spLocks noGrp="1"/>
          </p:cNvSpPr>
          <p:nvPr>
            <p:ph type="title"/>
          </p:nvPr>
        </p:nvSpPr>
        <p:spPr>
          <a:xfrm>
            <a:off x="1357290" y="642918"/>
            <a:ext cx="7498080" cy="1143000"/>
          </a:xfrm>
        </p:spPr>
        <p:txBody>
          <a:bodyPr>
            <a:normAutofit fontScale="90000"/>
          </a:bodyPr>
          <a:lstStyle/>
          <a:p>
            <a:r>
              <a:rPr lang="en-IN" sz="4000" b="1" dirty="0" smtClean="0"/>
              <a:t>PERSONALITY DEVELOPMENT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4524315"/>
          </a:xfrm>
          <a:prstGeom prst="rect">
            <a:avLst/>
          </a:prstGeom>
          <a:noFill/>
        </p:spPr>
        <p:txBody>
          <a:bodyPr wrap="square" rtlCol="0">
            <a:spAutoFit/>
          </a:bodyPr>
          <a:lstStyle/>
          <a:p>
            <a:r>
              <a:rPr lang="en-IN" sz="2400" dirty="0" smtClean="0"/>
              <a:t>Values are the framework of philosophy of an individual on the basis of judgement. What is good or bad, ethical or unethical, desirable or undesirable? That is why, these are important to study for the success of any organisation. </a:t>
            </a:r>
          </a:p>
          <a:p>
            <a:endParaRPr lang="en-US" sz="2400" dirty="0" smtClean="0"/>
          </a:p>
          <a:p>
            <a:r>
              <a:rPr lang="en-IN" sz="2400" b="1" dirty="0" smtClean="0"/>
              <a:t>Definition of  Values</a:t>
            </a:r>
            <a:r>
              <a:rPr lang="en-IN" sz="2400" dirty="0" smtClean="0"/>
              <a:t> : </a:t>
            </a:r>
          </a:p>
          <a:p>
            <a:r>
              <a:rPr lang="en-IN" sz="2400" dirty="0" smtClean="0"/>
              <a:t>Molten </a:t>
            </a:r>
            <a:r>
              <a:rPr lang="en-IN" sz="2400" dirty="0" err="1" smtClean="0"/>
              <a:t>Rokeach</a:t>
            </a:r>
            <a:r>
              <a:rPr lang="en-IN" sz="2400" dirty="0" smtClean="0"/>
              <a:t>, a noted socio-psychologist, has defined values as "</a:t>
            </a:r>
            <a:r>
              <a:rPr lang="en-IN" sz="2400" b="1" i="1" dirty="0" smtClean="0"/>
              <a:t>global beliefs that guide actions and judgements across a variety of situations</a:t>
            </a:r>
            <a:r>
              <a:rPr lang="en-IN" sz="2400" dirty="0" smtClean="0"/>
              <a:t>" or "</a:t>
            </a:r>
            <a:r>
              <a:rPr lang="en-IN" sz="2400" b="1" i="1" dirty="0" smtClean="0"/>
              <a:t>values represent basic convictions that a specific mode of conduct (or end-stare of existence) is personally or socially preferable to an opposite mode of conduct (or end-state of existence</a:t>
            </a:r>
            <a:r>
              <a:rPr lang="en-IN" sz="2400" dirty="0" smtClean="0"/>
              <a:t>)". </a:t>
            </a:r>
            <a:endParaRPr lang="en-US" sz="2400" b="1"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VALUES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4524315"/>
          </a:xfrm>
          <a:prstGeom prst="rect">
            <a:avLst/>
          </a:prstGeom>
          <a:noFill/>
        </p:spPr>
        <p:txBody>
          <a:bodyPr wrap="square" rtlCol="0">
            <a:spAutoFit/>
          </a:bodyPr>
          <a:lstStyle/>
          <a:p>
            <a:r>
              <a:rPr lang="en-IN" sz="2400" dirty="0" smtClean="0"/>
              <a:t>Types of Values : The values learnt can be divided into two broad categories : </a:t>
            </a:r>
            <a:endParaRPr lang="en-US" sz="2400" dirty="0" smtClean="0"/>
          </a:p>
          <a:p>
            <a:r>
              <a:rPr lang="en-IN" sz="2400" dirty="0" smtClean="0"/>
              <a:t>(a) Terminal values and </a:t>
            </a:r>
            <a:endParaRPr lang="en-US" sz="2400" dirty="0" smtClean="0"/>
          </a:p>
          <a:p>
            <a:r>
              <a:rPr lang="en-IN" sz="2400" dirty="0" smtClean="0"/>
              <a:t>(b) Instrumental values. </a:t>
            </a:r>
          </a:p>
          <a:p>
            <a:endParaRPr lang="en-US" sz="2400" dirty="0" smtClean="0"/>
          </a:p>
          <a:p>
            <a:pPr marL="457200" indent="-457200">
              <a:buAutoNum type="alphaLcParenBoth"/>
            </a:pPr>
            <a:r>
              <a:rPr lang="en-IN" sz="2400" b="1" dirty="0" smtClean="0"/>
              <a:t>Terminal values </a:t>
            </a:r>
            <a:r>
              <a:rPr lang="en-IN" sz="2400" dirty="0" smtClean="0"/>
              <a:t>It leads to "ends" to be achieved. e.g. comfortable life, sense of accomplishment, family, security, self respect, wisdom etc. </a:t>
            </a:r>
          </a:p>
          <a:p>
            <a:pPr marL="457200" indent="-457200"/>
            <a:endParaRPr lang="en-US" sz="2400" dirty="0" smtClean="0"/>
          </a:p>
          <a:p>
            <a:r>
              <a:rPr lang="en-IN" sz="2400" dirty="0" smtClean="0"/>
              <a:t>(b) </a:t>
            </a:r>
            <a:r>
              <a:rPr lang="en-IN" sz="2400" b="1" dirty="0" smtClean="0"/>
              <a:t>Instrumental values </a:t>
            </a:r>
            <a:r>
              <a:rPr lang="en-IN" sz="2400" dirty="0" smtClean="0"/>
              <a:t>It leads to "means" of achieving desired ends. e.g. ambition, courage, honesty, helpfulness. independence etc. </a:t>
            </a:r>
            <a:endParaRPr lang="en-US" sz="2400" b="1"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VALUES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856357"/>
            <a:ext cx="8072462" cy="6001643"/>
          </a:xfrm>
          <a:prstGeom prst="rect">
            <a:avLst/>
          </a:prstGeom>
          <a:noFill/>
        </p:spPr>
        <p:txBody>
          <a:bodyPr wrap="square" rtlCol="0">
            <a:spAutoFit/>
          </a:bodyPr>
          <a:lstStyle/>
          <a:p>
            <a:r>
              <a:rPr lang="en-IN" sz="2400" dirty="0" smtClean="0"/>
              <a:t>The word ethics is derived from the Latin word 'ethos', which means 'character'. Ethics generally regarded as being about the norms of behaviour people fallow, regarding what good or bad, right or wrong usually ethical issues are about matters of human well-being or welfare.</a:t>
            </a:r>
            <a:endParaRPr lang="en-US" sz="2400" dirty="0" smtClean="0"/>
          </a:p>
          <a:p>
            <a:endParaRPr lang="en-US" sz="2400" dirty="0" smtClean="0"/>
          </a:p>
          <a:p>
            <a:r>
              <a:rPr lang="en-IN" sz="2400" b="1" i="1" dirty="0" smtClean="0"/>
              <a:t>Definition of Ethics</a:t>
            </a:r>
            <a:r>
              <a:rPr lang="en-IN" sz="2400" dirty="0" smtClean="0"/>
              <a:t>: There are various definitions of ethics:</a:t>
            </a:r>
          </a:p>
          <a:p>
            <a:endParaRPr lang="en-US" sz="2400" dirty="0" smtClean="0"/>
          </a:p>
          <a:p>
            <a:r>
              <a:rPr lang="en-IN" sz="2400" dirty="0" smtClean="0"/>
              <a:t> </a:t>
            </a:r>
            <a:r>
              <a:rPr lang="en-IN" sz="2400" b="1" i="1" dirty="0" smtClean="0"/>
              <a:t>"Ethics is a set of moral rules and regulations formulated from time immemorial by the of society for its members to lead an honest and happy life."</a:t>
            </a:r>
            <a:r>
              <a:rPr lang="en-IN" sz="2400" dirty="0" smtClean="0"/>
              <a:t> </a:t>
            </a:r>
          </a:p>
          <a:p>
            <a:endParaRPr lang="en-IN" sz="2400" b="1" dirty="0" smtClean="0"/>
          </a:p>
          <a:p>
            <a:r>
              <a:rPr lang="en-IN" sz="2400" b="1" i="1" dirty="0" smtClean="0"/>
              <a:t>"Ethics indicate the way of life one has to lead, where honesty, discipline, and understanding of moral ideas, character and relationship with others are the influential forces.”</a:t>
            </a:r>
            <a:endParaRPr lang="en-US" sz="2400" b="1"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142984"/>
            <a:ext cx="8072462" cy="6740307"/>
          </a:xfrm>
          <a:prstGeom prst="rect">
            <a:avLst/>
          </a:prstGeom>
          <a:noFill/>
        </p:spPr>
        <p:txBody>
          <a:bodyPr wrap="square" rtlCol="0">
            <a:spAutoFit/>
          </a:bodyPr>
          <a:lstStyle/>
          <a:p>
            <a:r>
              <a:rPr lang="en-IN" sz="2400" b="1" i="1" dirty="0" smtClean="0"/>
              <a:t>“Ethics refer to a particular set of beliefs, attitudes, and habits that a person or group displays concerning morality.</a:t>
            </a:r>
          </a:p>
          <a:p>
            <a:endParaRPr lang="en-IN" sz="2400" b="1" i="1" dirty="0" smtClean="0"/>
          </a:p>
          <a:p>
            <a:r>
              <a:rPr lang="en-IN" sz="2400" b="1" u="sng" dirty="0" smtClean="0"/>
              <a:t>Types of Ethics</a:t>
            </a:r>
            <a:r>
              <a:rPr lang="en-IN" sz="2400" dirty="0" smtClean="0"/>
              <a:t> : </a:t>
            </a:r>
            <a:endParaRPr lang="en-US" sz="2400" dirty="0" smtClean="0"/>
          </a:p>
          <a:p>
            <a:r>
              <a:rPr lang="en-IN" sz="2400" dirty="0" smtClean="0"/>
              <a:t>There are two types of ethics : </a:t>
            </a:r>
            <a:endParaRPr lang="en-US" sz="2400" dirty="0" smtClean="0"/>
          </a:p>
          <a:p>
            <a:pPr marL="514350" lvl="0" indent="-514350">
              <a:buFont typeface="+mj-lt"/>
              <a:buAutoNum type="romanUcPeriod"/>
            </a:pPr>
            <a:r>
              <a:rPr lang="en-IN" sz="2400" dirty="0" smtClean="0"/>
              <a:t>Personal ethics</a:t>
            </a:r>
          </a:p>
          <a:p>
            <a:pPr marL="514350" lvl="0" indent="-514350">
              <a:buFont typeface="+mj-lt"/>
              <a:buAutoNum type="romanUcPeriod"/>
            </a:pPr>
            <a:r>
              <a:rPr lang="en-IN" sz="2400" dirty="0" smtClean="0"/>
              <a:t>Professional ethics. </a:t>
            </a:r>
          </a:p>
          <a:p>
            <a:pPr lvl="0"/>
            <a:endParaRPr lang="en-US" sz="2400" dirty="0" smtClean="0"/>
          </a:p>
          <a:p>
            <a:r>
              <a:rPr lang="en-IN" sz="2400" dirty="0" smtClean="0"/>
              <a:t>(</a:t>
            </a:r>
            <a:r>
              <a:rPr lang="en-IN" sz="2400" dirty="0" err="1" smtClean="0"/>
              <a:t>i</a:t>
            </a:r>
            <a:r>
              <a:rPr lang="en-IN" sz="2400" dirty="0" smtClean="0"/>
              <a:t>) Personal ethics : It may be defined as "the rules by which an individual lives his or her personal life is known as personal ethics." </a:t>
            </a:r>
            <a:endParaRPr lang="en-US" sz="2400" dirty="0" smtClean="0"/>
          </a:p>
          <a:p>
            <a:r>
              <a:rPr lang="en-IN" sz="2400" dirty="0" smtClean="0"/>
              <a:t>(ii) Professional ethics : It may be defined as "the moral way, the professional should behave in his domain of profession, be it engineering, medical, legal or business, is known as professional ethics".</a:t>
            </a:r>
            <a:endParaRPr lang="en-IN" sz="2400" b="1" i="1" dirty="0" smtClean="0"/>
          </a:p>
          <a:p>
            <a:endParaRPr lang="en-IN" sz="2400" b="1" i="1" dirty="0" smtClean="0"/>
          </a:p>
          <a:p>
            <a:endParaRPr lang="en-US" sz="2400" dirty="0" smtClean="0"/>
          </a:p>
          <a:p>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785794"/>
            <a:ext cx="8072462" cy="6370975"/>
          </a:xfrm>
          <a:prstGeom prst="rect">
            <a:avLst/>
          </a:prstGeom>
          <a:noFill/>
        </p:spPr>
        <p:txBody>
          <a:bodyPr wrap="square" rtlCol="0">
            <a:spAutoFit/>
          </a:bodyPr>
          <a:lstStyle/>
          <a:p>
            <a:r>
              <a:rPr lang="en-IN" sz="2400" dirty="0" smtClean="0"/>
              <a:t>Ethics in general indicates the moral choices made by each person in relationship with other persons. </a:t>
            </a:r>
          </a:p>
          <a:p>
            <a:endParaRPr lang="en-US" sz="2400" dirty="0" smtClean="0"/>
          </a:p>
          <a:p>
            <a:r>
              <a:rPr lang="en-IN" sz="2400" dirty="0" smtClean="0"/>
              <a:t>Do's and Don't of Professional Ethics: </a:t>
            </a:r>
          </a:p>
          <a:p>
            <a:endParaRPr lang="en-US" sz="2400" dirty="0" smtClean="0"/>
          </a:p>
          <a:p>
            <a:r>
              <a:rPr lang="en-IN" sz="2400" b="1" dirty="0" smtClean="0"/>
              <a:t>Things to Do :</a:t>
            </a:r>
            <a:endParaRPr lang="en-US" sz="2400" dirty="0" smtClean="0"/>
          </a:p>
          <a:p>
            <a:pPr marL="457200" lvl="0" indent="-457200">
              <a:buFont typeface="Arial" pitchFamily="34" charset="0"/>
              <a:buChar char="•"/>
            </a:pPr>
            <a:r>
              <a:rPr lang="en-IN" sz="2400" dirty="0" smtClean="0"/>
              <a:t>Return value to the customer (internal and external) in all business decisions.</a:t>
            </a:r>
            <a:endParaRPr lang="en-US" sz="2400" dirty="0" smtClean="0"/>
          </a:p>
          <a:p>
            <a:pPr marL="457200" lvl="0" indent="-457200">
              <a:buFont typeface="Arial" pitchFamily="34" charset="0"/>
              <a:buChar char="•"/>
            </a:pPr>
            <a:r>
              <a:rPr lang="en-IN" sz="2400" dirty="0" smtClean="0"/>
              <a:t>Return value to the community, locally and globally.</a:t>
            </a:r>
            <a:endParaRPr lang="en-US" sz="2400" dirty="0" smtClean="0"/>
          </a:p>
          <a:p>
            <a:pPr marL="457200" lvl="0" indent="-457200">
              <a:buFont typeface="Arial" pitchFamily="34" charset="0"/>
              <a:buChar char="•"/>
            </a:pPr>
            <a:r>
              <a:rPr lang="en-IN" sz="2400" dirty="0" smtClean="0"/>
              <a:t>Deliver quality in a timely fashion.</a:t>
            </a:r>
            <a:endParaRPr lang="en-US" sz="2400" dirty="0" smtClean="0"/>
          </a:p>
          <a:p>
            <a:pPr marL="457200" lvl="0" indent="-457200">
              <a:buFont typeface="Arial" pitchFamily="34" charset="0"/>
              <a:buChar char="•"/>
            </a:pPr>
            <a:r>
              <a:rPr lang="en-IN" sz="2400" dirty="0" smtClean="0"/>
              <a:t>Be honest in the work by telling the client, customer or boss that the task or project under consideration will meet the target date.</a:t>
            </a:r>
            <a:endParaRPr lang="en-US" sz="2400" dirty="0" smtClean="0"/>
          </a:p>
          <a:p>
            <a:pPr marL="457200" lvl="0" indent="-457200">
              <a:buFont typeface="Arial" pitchFamily="34" charset="0"/>
              <a:buChar char="•"/>
            </a:pPr>
            <a:r>
              <a:rPr lang="en-IN" sz="2400" dirty="0" smtClean="0"/>
              <a:t>If the employer wants respect from employees, he/she should treat all employees as professionals in their own right. </a:t>
            </a:r>
            <a:endParaRPr lang="en-US" sz="2400" dirty="0" smtClean="0"/>
          </a:p>
          <a:p>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142984"/>
            <a:ext cx="8072462" cy="4154984"/>
          </a:xfrm>
          <a:prstGeom prst="rect">
            <a:avLst/>
          </a:prstGeom>
          <a:noFill/>
        </p:spPr>
        <p:txBody>
          <a:bodyPr wrap="square" rtlCol="0">
            <a:spAutoFit/>
          </a:bodyPr>
          <a:lstStyle/>
          <a:p>
            <a:pPr marL="457200" indent="-457200">
              <a:buFont typeface="Arial" pitchFamily="34" charset="0"/>
              <a:buChar char="•"/>
            </a:pPr>
            <a:r>
              <a:rPr lang="en-IN" sz="2400" dirty="0" smtClean="0"/>
              <a:t>Remember, treating someone as a professional, they will (hopefully) treat you like one too.</a:t>
            </a:r>
            <a:endParaRPr lang="en-US" sz="2400" dirty="0" smtClean="0"/>
          </a:p>
          <a:p>
            <a:pPr marL="457200" lvl="0" indent="-457200">
              <a:buFont typeface="Arial" pitchFamily="34" charset="0"/>
              <a:buChar char="•"/>
            </a:pPr>
            <a:r>
              <a:rPr lang="en-IN" sz="2400" dirty="0" smtClean="0"/>
              <a:t>Promote your profession.</a:t>
            </a:r>
            <a:endParaRPr lang="en-US" sz="2400" dirty="0" smtClean="0"/>
          </a:p>
          <a:p>
            <a:pPr marL="457200" lvl="0" indent="-457200">
              <a:buFont typeface="Arial" pitchFamily="34" charset="0"/>
              <a:buChar char="•"/>
            </a:pPr>
            <a:r>
              <a:rPr lang="en-IN" sz="2400" dirty="0" smtClean="0"/>
              <a:t>Do things for the good of yourself, the customer and the profession. You are not a true professional if you don't deliver outcomes that satisfy all three of these areas.</a:t>
            </a:r>
            <a:endParaRPr lang="en-US" sz="2400" dirty="0" smtClean="0"/>
          </a:p>
          <a:p>
            <a:pPr marL="457200" indent="-457200">
              <a:buFont typeface="Arial" pitchFamily="34" charset="0"/>
              <a:buChar char="•"/>
            </a:pPr>
            <a:r>
              <a:rPr lang="en-IN" sz="2400" dirty="0" smtClean="0"/>
              <a:t>Do provide respect to others. This means truly thinking of their beliefs and desires and the contribution they make to the organization, however small. </a:t>
            </a:r>
            <a:endParaRPr lang="en-IN" sz="2400" b="1" i="1" dirty="0" smtClean="0"/>
          </a:p>
          <a:p>
            <a:endParaRPr lang="en-US" sz="2400" dirty="0" smtClean="0"/>
          </a:p>
          <a:p>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785794"/>
            <a:ext cx="8072462" cy="3416320"/>
          </a:xfrm>
          <a:prstGeom prst="rect">
            <a:avLst/>
          </a:prstGeom>
          <a:noFill/>
        </p:spPr>
        <p:txBody>
          <a:bodyPr wrap="square" rtlCol="0">
            <a:spAutoFit/>
          </a:bodyPr>
          <a:lstStyle/>
          <a:p>
            <a:r>
              <a:rPr lang="en-IN" sz="2400" b="1" dirty="0" smtClean="0"/>
              <a:t>Things Not to Do :</a:t>
            </a:r>
          </a:p>
          <a:p>
            <a:endParaRPr lang="en-US" sz="2400" dirty="0" smtClean="0"/>
          </a:p>
          <a:p>
            <a:pPr marL="457200" lvl="0" indent="-457200">
              <a:buFont typeface="Arial" pitchFamily="34" charset="0"/>
              <a:buChar char="•"/>
            </a:pPr>
            <a:r>
              <a:rPr lang="en-IN" sz="2400" dirty="0" smtClean="0"/>
              <a:t>Do not tell the client, customer or boss that you can do something which you cannot. </a:t>
            </a:r>
            <a:endParaRPr lang="en-US" sz="2400" dirty="0" smtClean="0"/>
          </a:p>
          <a:p>
            <a:pPr marL="457200" lvl="0" indent="-457200">
              <a:buFont typeface="Arial" pitchFamily="34" charset="0"/>
              <a:buChar char="•"/>
            </a:pPr>
            <a:r>
              <a:rPr lang="en-IN" sz="2400" dirty="0" smtClean="0"/>
              <a:t>When you accept an assignment, do not use words like me, mine, you and yours.</a:t>
            </a:r>
            <a:endParaRPr lang="en-US" sz="2400" dirty="0" smtClean="0"/>
          </a:p>
          <a:p>
            <a:pPr marL="457200" lvl="0" indent="-457200">
              <a:buFont typeface="Arial" pitchFamily="34" charset="0"/>
              <a:buChar char="•"/>
            </a:pPr>
            <a:r>
              <a:rPr lang="en-IN" sz="2400" dirty="0" smtClean="0"/>
              <a:t>Do not steal from your employer.</a:t>
            </a:r>
            <a:endParaRPr lang="en-US" sz="2400" dirty="0" smtClean="0"/>
          </a:p>
          <a:p>
            <a:pPr marL="457200" lvl="0" indent="-457200">
              <a:buFont typeface="Arial" pitchFamily="34" charset="0"/>
              <a:buChar char="•"/>
            </a:pPr>
            <a:r>
              <a:rPr lang="en-IN" sz="2400" dirty="0" smtClean="0"/>
              <a:t>Do not underestimate your capabilities. </a:t>
            </a:r>
            <a:endParaRPr lang="en-US" sz="2400" dirty="0" smtClean="0"/>
          </a:p>
          <a:p>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4524315"/>
          </a:xfrm>
          <a:prstGeom prst="rect">
            <a:avLst/>
          </a:prstGeom>
          <a:noFill/>
        </p:spPr>
        <p:txBody>
          <a:bodyPr wrap="square" rtlCol="0">
            <a:spAutoFit/>
          </a:bodyPr>
          <a:lstStyle/>
          <a:p>
            <a:r>
              <a:rPr lang="en-IN" sz="2400" b="1" dirty="0" smtClean="0"/>
              <a:t>Need for Professional Ethics or Ethical Principles</a:t>
            </a:r>
            <a:r>
              <a:rPr lang="en-IN" sz="2400" dirty="0" smtClean="0"/>
              <a:t> </a:t>
            </a:r>
            <a:endParaRPr lang="en-US" sz="2400" dirty="0" smtClean="0"/>
          </a:p>
          <a:p>
            <a:endParaRPr lang="en-US" sz="2400" dirty="0" smtClean="0"/>
          </a:p>
          <a:p>
            <a:pPr marL="457200" lvl="0" indent="-457200">
              <a:buFont typeface="Arial" pitchFamily="34" charset="0"/>
              <a:buChar char="•"/>
            </a:pPr>
            <a:r>
              <a:rPr lang="en-IN" sz="2400" dirty="0" smtClean="0"/>
              <a:t>Treat people with respect, valuing each individual and avoiding negative discrimination.</a:t>
            </a:r>
          </a:p>
          <a:p>
            <a:pPr marL="457200" lvl="0" indent="-457200">
              <a:buFont typeface="Arial" pitchFamily="34" charset="0"/>
              <a:buChar char="•"/>
            </a:pPr>
            <a:endParaRPr lang="en-US" sz="2400" dirty="0" smtClean="0"/>
          </a:p>
          <a:p>
            <a:pPr marL="457200" lvl="0" indent="-457200">
              <a:buFont typeface="Arial" pitchFamily="34" charset="0"/>
              <a:buChar char="•"/>
            </a:pPr>
            <a:r>
              <a:rPr lang="en-IN" sz="2400" dirty="0" smtClean="0"/>
              <a:t>Respect and promote people's right to make their own decisions and choices, unless the welfare or others are seriously threatened.</a:t>
            </a:r>
          </a:p>
          <a:p>
            <a:pPr marL="457200" lvl="0" indent="-457200">
              <a:buFont typeface="Arial" pitchFamily="34" charset="0"/>
              <a:buChar char="•"/>
            </a:pPr>
            <a:endParaRPr lang="en-US" sz="2400" dirty="0" smtClean="0"/>
          </a:p>
          <a:p>
            <a:pPr marL="457200" indent="-457200">
              <a:buFont typeface="Arial" pitchFamily="34" charset="0"/>
              <a:buChar char="•"/>
            </a:pPr>
            <a:r>
              <a:rPr lang="en-IN" sz="2400" dirty="0" smtClean="0"/>
              <a:t>Promote and ensure the welfare and safety of people, while permitting them to learn through undertaking challenging educational activities.</a:t>
            </a:r>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5632311"/>
          </a:xfrm>
          <a:prstGeom prst="rect">
            <a:avLst/>
          </a:prstGeom>
          <a:noFill/>
        </p:spPr>
        <p:txBody>
          <a:bodyPr wrap="square" rtlCol="0">
            <a:spAutoFit/>
          </a:bodyPr>
          <a:lstStyle/>
          <a:p>
            <a:r>
              <a:rPr lang="en-IN" sz="2400" b="1" dirty="0" smtClean="0"/>
              <a:t>Need for Professional Ethics or Ethical Principles</a:t>
            </a:r>
            <a:r>
              <a:rPr lang="en-IN" sz="2400" dirty="0" smtClean="0"/>
              <a:t> </a:t>
            </a:r>
            <a:endParaRPr lang="en-US" sz="2400" dirty="0" smtClean="0"/>
          </a:p>
          <a:p>
            <a:endParaRPr lang="en-US" sz="2400" dirty="0" smtClean="0"/>
          </a:p>
          <a:p>
            <a:pPr marL="457200" lvl="0" indent="-457200">
              <a:buFont typeface="Arial" pitchFamily="34" charset="0"/>
              <a:buChar char="•"/>
            </a:pPr>
            <a:r>
              <a:rPr lang="en-IN" sz="2400" dirty="0" smtClean="0"/>
              <a:t>Contribute towards the promotion of social justice for people and in society generally through encouraging respect for difference and diversity and challenging discrimination.</a:t>
            </a:r>
            <a:endParaRPr lang="en-US" sz="2400" dirty="0" smtClean="0"/>
          </a:p>
          <a:p>
            <a:pPr marL="457200" lvl="0" indent="-457200">
              <a:buFont typeface="Arial" pitchFamily="34" charset="0"/>
              <a:buChar char="•"/>
            </a:pPr>
            <a:r>
              <a:rPr lang="en-IN" sz="2400" dirty="0" smtClean="0"/>
              <a:t>Recognise the boundaries between personal and professional life and be aware of the need to balance a caring and supportive relationship with people with appropriate professional distance.</a:t>
            </a:r>
            <a:endParaRPr lang="en-US" sz="2400" dirty="0" smtClean="0"/>
          </a:p>
          <a:p>
            <a:pPr marL="457200" lvl="0" indent="-457200">
              <a:buFont typeface="Arial" pitchFamily="34" charset="0"/>
              <a:buChar char="•"/>
            </a:pPr>
            <a:r>
              <a:rPr lang="en-IN" sz="2400" dirty="0" smtClean="0"/>
              <a:t>Recognise the need to be accountable to people, their parents or guardians, colleagues, wider society and others with a relevant interest in the work and that these accountabilities may be in conflict.</a:t>
            </a:r>
            <a:endParaRPr lang="en-US" sz="2400" dirty="0" smtClean="0"/>
          </a:p>
          <a:p>
            <a:pPr marL="457200" lvl="0" indent="-457200">
              <a:buFont typeface="Arial" pitchFamily="34" charset="0"/>
              <a:buChar char="•"/>
            </a:pPr>
            <a:r>
              <a:rPr lang="en-IN" sz="2400" dirty="0" smtClean="0"/>
              <a:t>Develop and maintain the required skills and competence to do the job. </a:t>
            </a:r>
            <a:endParaRPr lang="en-US" sz="2400" dirty="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5632311"/>
          </a:xfrm>
          <a:prstGeom prst="rect">
            <a:avLst/>
          </a:prstGeom>
          <a:noFill/>
        </p:spPr>
        <p:txBody>
          <a:bodyPr wrap="square" rtlCol="0">
            <a:spAutoFit/>
          </a:bodyPr>
          <a:lstStyle/>
          <a:p>
            <a:r>
              <a:rPr lang="en-IN" sz="2400" b="1" dirty="0" smtClean="0"/>
              <a:t>Development of Professional Ethics</a:t>
            </a:r>
            <a:r>
              <a:rPr lang="en-IN" sz="2400" dirty="0" smtClean="0"/>
              <a:t>  :</a:t>
            </a:r>
            <a:endParaRPr lang="en-US" sz="2400" dirty="0" smtClean="0"/>
          </a:p>
          <a:p>
            <a:endParaRPr lang="en-US" sz="2400" dirty="0" smtClean="0"/>
          </a:p>
          <a:p>
            <a:r>
              <a:rPr lang="en-IN" sz="2400" i="1" dirty="0" smtClean="0"/>
              <a:t>The professional ethics can be developed</a:t>
            </a:r>
            <a:r>
              <a:rPr lang="en-IN" sz="2400" dirty="0" smtClean="0"/>
              <a:t> :</a:t>
            </a:r>
          </a:p>
          <a:p>
            <a:endParaRPr lang="en-US" sz="2400" dirty="0" smtClean="0"/>
          </a:p>
          <a:p>
            <a:pPr marL="457200" lvl="0" indent="-457200">
              <a:buFont typeface="Arial" pitchFamily="34" charset="0"/>
              <a:buChar char="•"/>
            </a:pPr>
            <a:r>
              <a:rPr lang="en-IN" sz="2400" dirty="0" smtClean="0"/>
              <a:t>By providing education.</a:t>
            </a:r>
          </a:p>
          <a:p>
            <a:pPr marL="457200" lvl="0" indent="-457200">
              <a:buFont typeface="Arial" pitchFamily="34" charset="0"/>
              <a:buChar char="•"/>
            </a:pPr>
            <a:endParaRPr lang="en-US" sz="2400" dirty="0" smtClean="0"/>
          </a:p>
          <a:p>
            <a:pPr marL="457200" lvl="0" indent="-457200">
              <a:buFont typeface="Arial" pitchFamily="34" charset="0"/>
              <a:buChar char="•"/>
            </a:pPr>
            <a:r>
              <a:rPr lang="en-IN" sz="2400" dirty="0" smtClean="0"/>
              <a:t>Training and presentation.</a:t>
            </a:r>
          </a:p>
          <a:p>
            <a:pPr marL="457200" lvl="0" indent="-457200">
              <a:buFont typeface="Arial" pitchFamily="34" charset="0"/>
              <a:buChar char="•"/>
            </a:pPr>
            <a:endParaRPr lang="en-US" sz="2400" dirty="0" smtClean="0"/>
          </a:p>
          <a:p>
            <a:pPr marL="457200" lvl="0" indent="-457200">
              <a:buFont typeface="Arial" pitchFamily="34" charset="0"/>
              <a:buChar char="•"/>
            </a:pPr>
            <a:r>
              <a:rPr lang="en-IN" sz="2400" dirty="0" smtClean="0"/>
              <a:t>Paper writing and book’s publication.</a:t>
            </a:r>
          </a:p>
          <a:p>
            <a:pPr marL="457200" lvl="0" indent="-457200">
              <a:buFont typeface="Arial" pitchFamily="34" charset="0"/>
              <a:buChar char="•"/>
            </a:pPr>
            <a:endParaRPr lang="en-US" sz="2400" dirty="0" smtClean="0"/>
          </a:p>
          <a:p>
            <a:pPr marL="457200" lvl="0" indent="-457200">
              <a:buFont typeface="Arial" pitchFamily="34" charset="0"/>
              <a:buChar char="•"/>
            </a:pPr>
            <a:r>
              <a:rPr lang="en-IN" sz="2400" dirty="0" smtClean="0"/>
              <a:t> Workshops with focus on professional ethics.</a:t>
            </a:r>
          </a:p>
          <a:p>
            <a:pPr marL="457200" lvl="0" indent="-457200">
              <a:buFont typeface="Arial" pitchFamily="34" charset="0"/>
              <a:buChar char="•"/>
            </a:pPr>
            <a:endParaRPr lang="en-US" sz="2400" dirty="0" smtClean="0"/>
          </a:p>
          <a:p>
            <a:pPr marL="457200" lvl="0" indent="-457200">
              <a:buFont typeface="Arial" pitchFamily="34" charset="0"/>
              <a:buChar char="•"/>
            </a:pPr>
            <a:r>
              <a:rPr lang="en-IN" sz="2400" dirty="0" smtClean="0"/>
              <a:t>Codes and standards.</a:t>
            </a:r>
          </a:p>
          <a:p>
            <a:pPr marL="457200" lvl="0" indent="-457200">
              <a:buFont typeface="Arial" pitchFamily="34" charset="0"/>
              <a:buChar char="•"/>
            </a:pPr>
            <a:endParaRPr lang="en-US" sz="2400" dirty="0" smtClean="0"/>
          </a:p>
          <a:p>
            <a:pPr marL="457200" indent="-457200">
              <a:buFont typeface="Arial" pitchFamily="34" charset="0"/>
              <a:buChar char="•"/>
            </a:pPr>
            <a:r>
              <a:rPr lang="en-IN" sz="2400" dirty="0" smtClean="0"/>
              <a:t>Conferences, symposia etc.</a:t>
            </a:r>
            <a:endParaRPr lang="en-US" sz="2400" dirty="0" smtClean="0"/>
          </a:p>
        </p:txBody>
      </p:sp>
      <p:sp>
        <p:nvSpPr>
          <p:cNvPr id="6" name="Title 5"/>
          <p:cNvSpPr>
            <a:spLocks noGrp="1"/>
          </p:cNvSpPr>
          <p:nvPr>
            <p:ph type="title"/>
          </p:nvPr>
        </p:nvSpPr>
        <p:spPr>
          <a:xfrm>
            <a:off x="1357290" y="571480"/>
            <a:ext cx="7498080" cy="1143000"/>
          </a:xfrm>
        </p:spPr>
        <p:txBody>
          <a:bodyPr>
            <a:normAutofit fontScale="90000"/>
          </a:bodyPr>
          <a:lstStyle/>
          <a:p>
            <a:pPr algn="ctr"/>
            <a:r>
              <a:rPr lang="en-IN" sz="3600" b="1" dirty="0" smtClean="0"/>
              <a:t>ETHICS</a:t>
            </a:r>
            <a:r>
              <a:rPr lang="en-IN" sz="3600" dirty="0" smtClean="0"/>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5632311"/>
          </a:xfrm>
          <a:prstGeom prst="rect">
            <a:avLst/>
          </a:prstGeom>
          <a:noFill/>
        </p:spPr>
        <p:txBody>
          <a:bodyPr wrap="square" rtlCol="0">
            <a:spAutoFit/>
          </a:bodyPr>
          <a:lstStyle/>
          <a:p>
            <a:r>
              <a:rPr lang="en-US" sz="2400" b="1" i="1" dirty="0" smtClean="0"/>
              <a:t>Physical development is how a human body grows and develops over a length of time. Physical development is also monitored closely in young children. </a:t>
            </a:r>
          </a:p>
          <a:p>
            <a:endParaRPr lang="en-US" sz="2400" dirty="0" smtClean="0"/>
          </a:p>
          <a:p>
            <a:r>
              <a:rPr lang="en-US" sz="2400" dirty="0" smtClean="0"/>
              <a:t>Physical development is broken into two categories ; </a:t>
            </a:r>
          </a:p>
          <a:p>
            <a:pPr marL="457200" indent="-457200">
              <a:buFont typeface="Arial" pitchFamily="34" charset="0"/>
              <a:buChar char="•"/>
            </a:pPr>
            <a:r>
              <a:rPr lang="en-US" sz="2400" b="1" dirty="0" smtClean="0"/>
              <a:t>Gross motor skills, </a:t>
            </a:r>
            <a:r>
              <a:rPr lang="en-US" sz="2400" dirty="0" smtClean="0"/>
              <a:t>and </a:t>
            </a:r>
          </a:p>
          <a:p>
            <a:pPr marL="457200" indent="-457200">
              <a:buFont typeface="Arial" pitchFamily="34" charset="0"/>
              <a:buChar char="•"/>
            </a:pPr>
            <a:r>
              <a:rPr lang="en-US" sz="2400" b="1" dirty="0" smtClean="0"/>
              <a:t>Fine motor skills.</a:t>
            </a:r>
          </a:p>
          <a:p>
            <a:endParaRPr lang="en-US" sz="2400" dirty="0" smtClean="0"/>
          </a:p>
          <a:p>
            <a:r>
              <a:rPr lang="en-IN" sz="2400" dirty="0" smtClean="0"/>
              <a:t>Gross motor skills are larger movements that make with arms, legs or feet or entire body. So crawling, running and jumping are gross motor skills. </a:t>
            </a:r>
          </a:p>
          <a:p>
            <a:endParaRPr lang="en-US" sz="2400" dirty="0" smtClean="0"/>
          </a:p>
          <a:p>
            <a:r>
              <a:rPr lang="en-IN" sz="2400" dirty="0" smtClean="0"/>
              <a:t>Fine motor skills are smaller actions. Picks things up between finger and thumb are fine  </a:t>
            </a:r>
            <a:endParaRPr lang="en-US" sz="2400" dirty="0" smtClean="0"/>
          </a:p>
          <a:p>
            <a:r>
              <a:rPr lang="en-IN" sz="2400" dirty="0" smtClean="0"/>
              <a:t>motor skills. </a:t>
            </a:r>
          </a:p>
        </p:txBody>
      </p:sp>
      <p:sp>
        <p:nvSpPr>
          <p:cNvPr id="7" name="Title 6"/>
          <p:cNvSpPr>
            <a:spLocks noGrp="1"/>
          </p:cNvSpPr>
          <p:nvPr>
            <p:ph type="title"/>
          </p:nvPr>
        </p:nvSpPr>
        <p:spPr>
          <a:xfrm>
            <a:off x="1357290" y="0"/>
            <a:ext cx="7498080" cy="1143000"/>
          </a:xfrm>
        </p:spPr>
        <p:txBody>
          <a:bodyPr/>
          <a:lstStyle/>
          <a:p>
            <a:r>
              <a:rPr lang="en-GB" dirty="0" smtClean="0"/>
              <a:t>Physical Development</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5170646"/>
          </a:xfrm>
          <a:prstGeom prst="rect">
            <a:avLst/>
          </a:prstGeom>
          <a:noFill/>
        </p:spPr>
        <p:txBody>
          <a:bodyPr wrap="square" rtlCol="0">
            <a:spAutoFit/>
          </a:bodyPr>
          <a:lstStyle/>
          <a:p>
            <a:r>
              <a:rPr lang="en-IN" sz="2200" dirty="0" smtClean="0"/>
              <a:t>Physical development in children follows a directional pattern. Larger muscle groups  develop before smaller muscle groups. Muscles which control larger body parts, such as the arms and legs, develop before muscles which control smaller body parts, such as the fingers and toes. Children learn to control larger muscles before they learn to control smaller muscles. This is why children learn to crawl and walk before they learn to feed themselves and hold a crayon. </a:t>
            </a:r>
          </a:p>
          <a:p>
            <a:endParaRPr lang="en-US" sz="2200" dirty="0" smtClean="0"/>
          </a:p>
          <a:p>
            <a:r>
              <a:rPr lang="en-IN" sz="2200" dirty="0" smtClean="0"/>
              <a:t>Better health is central to human happiness and well being. It also makes an important contribution to economic progress, as healthy population lives longer, are more productive and save more. Many factors influence health status and a country's ability to provide quality health services to its people. Ministries of health are important actors, but so are other government departments, donor organizations, civil society groups and communities themselves. </a:t>
            </a:r>
          </a:p>
        </p:txBody>
      </p:sp>
      <p:sp>
        <p:nvSpPr>
          <p:cNvPr id="7" name="Title 6"/>
          <p:cNvSpPr>
            <a:spLocks noGrp="1"/>
          </p:cNvSpPr>
          <p:nvPr>
            <p:ph type="title"/>
          </p:nvPr>
        </p:nvSpPr>
        <p:spPr>
          <a:xfrm>
            <a:off x="1357290" y="0"/>
            <a:ext cx="7498080" cy="1143000"/>
          </a:xfrm>
        </p:spPr>
        <p:txBody>
          <a:bodyPr/>
          <a:lstStyle/>
          <a:p>
            <a:r>
              <a:rPr lang="en-GB" dirty="0" smtClean="0"/>
              <a:t>Physical Development</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14422"/>
            <a:ext cx="8072462" cy="5601533"/>
          </a:xfrm>
          <a:prstGeom prst="rect">
            <a:avLst/>
          </a:prstGeom>
          <a:noFill/>
        </p:spPr>
        <p:txBody>
          <a:bodyPr wrap="square" rtlCol="0">
            <a:spAutoFit/>
          </a:bodyPr>
          <a:lstStyle/>
          <a:p>
            <a:r>
              <a:rPr lang="en-IN" sz="2400" dirty="0" smtClean="0"/>
              <a:t>Health is a dynamic process because it is always changing. We all have times of good health, times of sickness and may be even times of serious illness. As our lifestyles change, so does our level of health. </a:t>
            </a:r>
          </a:p>
          <a:p>
            <a:r>
              <a:rPr lang="en-IN" sz="2400" dirty="0" smtClean="0"/>
              <a:t>Those who participate in regular physical activities, do so partly to improve the current and future level of our health. As our lifestyle improves, our health also improves and we experience less disease and sickness. </a:t>
            </a:r>
          </a:p>
          <a:p>
            <a:r>
              <a:rPr lang="en-IN" sz="2400" dirty="0" smtClean="0"/>
              <a:t>Physical health is only one aspect of our overall health. The other components of health (Greenberg, 2004) that are just as important as physical health include the following: </a:t>
            </a:r>
          </a:p>
          <a:p>
            <a:endParaRPr lang="en-US" sz="2400" dirty="0" smtClean="0"/>
          </a:p>
          <a:p>
            <a:r>
              <a:rPr lang="en-IN" sz="2400" dirty="0" smtClean="0"/>
              <a:t>1. </a:t>
            </a:r>
            <a:r>
              <a:rPr lang="en-IN" sz="2400" b="1" dirty="0" smtClean="0"/>
              <a:t>Social health </a:t>
            </a:r>
            <a:r>
              <a:rPr lang="en-IN" sz="2400" dirty="0" smtClean="0"/>
              <a:t>: The ability to interact well with people and the environment and to have satisfying personal relationships. </a:t>
            </a:r>
            <a:endParaRPr lang="en-US" sz="2400" dirty="0" smtClean="0"/>
          </a:p>
          <a:p>
            <a:endParaRPr lang="en-IN" sz="2200" dirty="0" smtClean="0"/>
          </a:p>
        </p:txBody>
      </p:sp>
      <p:sp>
        <p:nvSpPr>
          <p:cNvPr id="7" name="Title 6"/>
          <p:cNvSpPr>
            <a:spLocks noGrp="1"/>
          </p:cNvSpPr>
          <p:nvPr>
            <p:ph type="title"/>
          </p:nvPr>
        </p:nvSpPr>
        <p:spPr>
          <a:xfrm>
            <a:off x="1357290" y="0"/>
            <a:ext cx="7498080" cy="1143000"/>
          </a:xfrm>
        </p:spPr>
        <p:txBody>
          <a:bodyPr/>
          <a:lstStyle/>
          <a:p>
            <a:r>
              <a:rPr lang="en-IN" dirty="0" smtClean="0"/>
              <a:t>Health and its Significance </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3785652"/>
          </a:xfrm>
          <a:prstGeom prst="rect">
            <a:avLst/>
          </a:prstGeom>
          <a:noFill/>
        </p:spPr>
        <p:txBody>
          <a:bodyPr wrap="square" rtlCol="0">
            <a:spAutoFit/>
          </a:bodyPr>
          <a:lstStyle/>
          <a:p>
            <a:r>
              <a:rPr lang="en-IN" sz="2400" dirty="0" smtClean="0"/>
              <a:t>2. </a:t>
            </a:r>
            <a:r>
              <a:rPr lang="en-IN" sz="2400" b="1" dirty="0" smtClean="0"/>
              <a:t>Mental health </a:t>
            </a:r>
            <a:r>
              <a:rPr lang="en-IN" sz="2400" dirty="0" smtClean="0"/>
              <a:t>: The ability to learn and grow intellectually. Life experiences as well as more formal structures (e.g., school) enhance mental health. </a:t>
            </a:r>
          </a:p>
          <a:p>
            <a:endParaRPr lang="en-US" sz="2400" dirty="0" smtClean="0"/>
          </a:p>
          <a:p>
            <a:r>
              <a:rPr lang="en-IN" sz="2400" dirty="0" smtClean="0"/>
              <a:t>3. </a:t>
            </a:r>
            <a:r>
              <a:rPr lang="en-IN" sz="2400" b="1" dirty="0" smtClean="0"/>
              <a:t>Emotional health </a:t>
            </a:r>
            <a:r>
              <a:rPr lang="en-IN" sz="2400" dirty="0" smtClean="0"/>
              <a:t>: The ability to control emotions, so that you feel comfortable in expressing them and can express them appropriately. </a:t>
            </a:r>
          </a:p>
          <a:p>
            <a:endParaRPr lang="en-US" sz="2400" dirty="0" smtClean="0"/>
          </a:p>
          <a:p>
            <a:r>
              <a:rPr lang="en-IN" sz="2400" dirty="0" smtClean="0"/>
              <a:t>4. </a:t>
            </a:r>
            <a:r>
              <a:rPr lang="en-IN" sz="2400" b="1" dirty="0" smtClean="0"/>
              <a:t>Spiritual health </a:t>
            </a:r>
            <a:r>
              <a:rPr lang="en-IN" sz="2400" dirty="0" smtClean="0"/>
              <a:t>: A belief in some unifying force. It varies from person to person but has the concept of faith at its core.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Health and its Significance </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428736"/>
            <a:ext cx="8072462" cy="2677656"/>
          </a:xfrm>
          <a:prstGeom prst="rect">
            <a:avLst/>
          </a:prstGeom>
          <a:noFill/>
        </p:spPr>
        <p:txBody>
          <a:bodyPr wrap="square" rtlCol="0">
            <a:spAutoFit/>
          </a:bodyPr>
          <a:lstStyle/>
          <a:p>
            <a:r>
              <a:rPr lang="en-IN" sz="2400" dirty="0" smtClean="0"/>
              <a:t>Hygiene is a set of practices performed for the preservation of health. Keeping a good standard of hygiene helps to prevent the development and spread of infections, illnesses and had odours. While, in modern medical sciences there is a set of standards of hygiene recommended for different situations, what is considered hygienic or not can vary between different cultures, genders and </a:t>
            </a:r>
            <a:r>
              <a:rPr lang="en-IN" sz="2400" dirty="0" err="1" smtClean="0"/>
              <a:t>etarian</a:t>
            </a:r>
            <a:r>
              <a:rPr lang="en-IN" sz="2400" dirty="0" smtClean="0"/>
              <a:t> groups.</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Hygiene </a:t>
            </a:r>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71546"/>
            <a:ext cx="8072462" cy="5632311"/>
          </a:xfrm>
          <a:prstGeom prst="rect">
            <a:avLst/>
          </a:prstGeom>
          <a:noFill/>
        </p:spPr>
        <p:txBody>
          <a:bodyPr wrap="square" rtlCol="0">
            <a:spAutoFit/>
          </a:bodyPr>
          <a:lstStyle/>
          <a:p>
            <a:r>
              <a:rPr lang="en-IN" sz="2400" b="1" dirty="0" smtClean="0"/>
              <a:t>Different types of Hygiene’s: </a:t>
            </a:r>
          </a:p>
          <a:p>
            <a:endParaRPr lang="en-US" sz="2400" dirty="0" smtClean="0"/>
          </a:p>
          <a:p>
            <a:pPr marL="457200" indent="-457200">
              <a:buAutoNum type="arabicPeriod"/>
            </a:pPr>
            <a:r>
              <a:rPr lang="en-IN" sz="2400" dirty="0" smtClean="0"/>
              <a:t>Medical hygiene </a:t>
            </a:r>
          </a:p>
          <a:p>
            <a:pPr marL="457200" indent="-457200">
              <a:buAutoNum type="arabicPeriod"/>
            </a:pPr>
            <a:endParaRPr lang="en-US" sz="2400" dirty="0" smtClean="0"/>
          </a:p>
          <a:p>
            <a:pPr marL="457200" indent="-457200">
              <a:buAutoNum type="arabicPeriod" startAt="2"/>
            </a:pPr>
            <a:r>
              <a:rPr lang="en-IN" sz="2400" dirty="0" smtClean="0"/>
              <a:t>Home and everyday life hygiene</a:t>
            </a:r>
          </a:p>
          <a:p>
            <a:pPr marL="457200" indent="-457200">
              <a:buAutoNum type="arabicPeriod" startAt="2"/>
            </a:pPr>
            <a:endParaRPr lang="en-US" sz="2400" dirty="0" smtClean="0"/>
          </a:p>
          <a:p>
            <a:pPr marL="457200" lvl="0" indent="-457200">
              <a:buFont typeface="Arial" pitchFamily="34" charset="0"/>
              <a:buChar char="•"/>
            </a:pPr>
            <a:r>
              <a:rPr lang="en-IN" sz="2400" dirty="0" smtClean="0"/>
              <a:t>Hand hygiene </a:t>
            </a:r>
            <a:endParaRPr lang="en-US" sz="2400" dirty="0" smtClean="0"/>
          </a:p>
          <a:p>
            <a:pPr marL="457200" lvl="0" indent="-457200">
              <a:buFont typeface="Arial" pitchFamily="34" charset="0"/>
              <a:buChar char="•"/>
            </a:pPr>
            <a:r>
              <a:rPr lang="en-IN" sz="2400" dirty="0" smtClean="0"/>
              <a:t>Respiratory hygiene</a:t>
            </a:r>
            <a:endParaRPr lang="en-US" sz="2400" dirty="0" smtClean="0"/>
          </a:p>
          <a:p>
            <a:pPr marL="457200" lvl="0" indent="-457200">
              <a:buFont typeface="Arial" pitchFamily="34" charset="0"/>
              <a:buChar char="•"/>
            </a:pPr>
            <a:r>
              <a:rPr lang="en-IN" sz="2400" dirty="0" smtClean="0"/>
              <a:t>Food hygiene at home </a:t>
            </a:r>
            <a:endParaRPr lang="en-US" sz="2400" dirty="0" smtClean="0"/>
          </a:p>
          <a:p>
            <a:pPr marL="457200" lvl="0" indent="-457200">
              <a:buFont typeface="Arial" pitchFamily="34" charset="0"/>
              <a:buChar char="•"/>
            </a:pPr>
            <a:r>
              <a:rPr lang="en-IN" sz="2400" dirty="0" smtClean="0"/>
              <a:t>Household water treatment and safe storage</a:t>
            </a:r>
            <a:endParaRPr lang="en-US" sz="2400" dirty="0" smtClean="0"/>
          </a:p>
          <a:p>
            <a:pPr marL="457200" lvl="0" indent="-457200">
              <a:buFont typeface="Arial" pitchFamily="34" charset="0"/>
              <a:buChar char="•"/>
            </a:pPr>
            <a:r>
              <a:rPr lang="en-IN" sz="2400" dirty="0" smtClean="0"/>
              <a:t>Hygiene in the kitchen, bathroom and toilet </a:t>
            </a:r>
            <a:endParaRPr lang="en-US" sz="2400" dirty="0" smtClean="0"/>
          </a:p>
          <a:p>
            <a:pPr marL="457200" lvl="0" indent="-457200">
              <a:buFont typeface="Arial" pitchFamily="34" charset="0"/>
              <a:buChar char="•"/>
            </a:pPr>
            <a:r>
              <a:rPr lang="en-IN" sz="2400" dirty="0" smtClean="0"/>
              <a:t>Laundry hygiene </a:t>
            </a:r>
            <a:endParaRPr lang="en-US" sz="2400" dirty="0" smtClean="0"/>
          </a:p>
          <a:p>
            <a:pPr marL="457200" lvl="0" indent="-457200">
              <a:buFont typeface="Arial" pitchFamily="34" charset="0"/>
              <a:buChar char="•"/>
            </a:pPr>
            <a:r>
              <a:rPr lang="en-IN" sz="2400" dirty="0" smtClean="0"/>
              <a:t>Medical hygiene at home</a:t>
            </a:r>
            <a:endParaRPr lang="en-US" sz="2400" dirty="0" smtClean="0"/>
          </a:p>
          <a:p>
            <a:pPr marL="457200" lvl="0" indent="-457200">
              <a:buFont typeface="Arial" pitchFamily="34" charset="0"/>
              <a:buChar char="•"/>
            </a:pPr>
            <a:r>
              <a:rPr lang="en-IN" sz="2400" dirty="0" smtClean="0"/>
              <a:t>Home hygiene in low-income communities </a:t>
            </a:r>
            <a:endParaRPr lang="en-US" sz="2400" dirty="0" smtClean="0"/>
          </a:p>
          <a:p>
            <a:pPr marL="457200" lvl="0" indent="-457200">
              <a:buFont typeface="Arial" pitchFamily="34" charset="0"/>
              <a:buChar char="•"/>
            </a:pPr>
            <a:r>
              <a:rPr lang="en-IN" sz="2400" dirty="0" smtClean="0"/>
              <a:t>Disinfectants and antibacterial in home hygiene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Hygiene </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71546"/>
            <a:ext cx="8072462" cy="2677656"/>
          </a:xfrm>
          <a:prstGeom prst="rect">
            <a:avLst/>
          </a:prstGeom>
          <a:noFill/>
        </p:spPr>
        <p:txBody>
          <a:bodyPr wrap="square" rtlCol="0">
            <a:spAutoFit/>
          </a:bodyPr>
          <a:lstStyle/>
          <a:p>
            <a:r>
              <a:rPr lang="en-IN" sz="2400" b="1" dirty="0" smtClean="0"/>
              <a:t>Different types of Hygiene’s: </a:t>
            </a:r>
          </a:p>
          <a:p>
            <a:endParaRPr lang="en-US" sz="2400" dirty="0" smtClean="0"/>
          </a:p>
          <a:p>
            <a:r>
              <a:rPr lang="en-IN" sz="2400" dirty="0" smtClean="0"/>
              <a:t>3. Personal hygiene </a:t>
            </a:r>
          </a:p>
          <a:p>
            <a:endParaRPr lang="en-US" sz="2400" dirty="0" smtClean="0"/>
          </a:p>
          <a:p>
            <a:r>
              <a:rPr lang="en-IN" sz="2400" dirty="0" smtClean="0"/>
              <a:t>4. Culinary (food) hygiene </a:t>
            </a:r>
          </a:p>
          <a:p>
            <a:endParaRPr lang="en-US" sz="2400" dirty="0" smtClean="0"/>
          </a:p>
          <a:p>
            <a:r>
              <a:rPr lang="en-IN" sz="2400" dirty="0" smtClean="0"/>
              <a:t>5. Personal service hygiene.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Hygiene </a:t>
            </a: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71546"/>
            <a:ext cx="8072462" cy="5632311"/>
          </a:xfrm>
          <a:prstGeom prst="rect">
            <a:avLst/>
          </a:prstGeom>
          <a:noFill/>
        </p:spPr>
        <p:txBody>
          <a:bodyPr wrap="square" rtlCol="0">
            <a:spAutoFit/>
          </a:bodyPr>
          <a:lstStyle/>
          <a:p>
            <a:r>
              <a:rPr lang="en-IN" sz="2400" b="1" dirty="0" smtClean="0"/>
              <a:t>Importance of Hygiene </a:t>
            </a:r>
            <a:endParaRPr lang="en-US" sz="2400" dirty="0" smtClean="0"/>
          </a:p>
          <a:p>
            <a:endParaRPr lang="en-US" sz="2400" dirty="0" smtClean="0"/>
          </a:p>
          <a:p>
            <a:pPr marL="457200" indent="-457200">
              <a:buAutoNum type="arabicPeriod"/>
            </a:pPr>
            <a:r>
              <a:rPr lang="en-IN" sz="2400" dirty="0" smtClean="0"/>
              <a:t>Keeping a good standard of hygiene helps to prevent the development and spread of infections, illnesses and bad odours. </a:t>
            </a:r>
          </a:p>
          <a:p>
            <a:pPr marL="457200" indent="-457200">
              <a:buAutoNum type="arabicPeriod"/>
            </a:pPr>
            <a:endParaRPr lang="en-IN" sz="2400" dirty="0" smtClean="0"/>
          </a:p>
          <a:p>
            <a:pPr marL="457200" indent="-457200">
              <a:buAutoNum type="arabicPeriod"/>
            </a:pPr>
            <a:r>
              <a:rPr lang="en-IN" sz="2400" dirty="0" smtClean="0"/>
              <a:t>Keeping body clean is vital in combating and preventing illness — both for yourself and for those around you. </a:t>
            </a:r>
          </a:p>
          <a:p>
            <a:pPr marL="457200" indent="-457200">
              <a:buAutoNum type="arabicPeriod"/>
            </a:pPr>
            <a:endParaRPr lang="en-IN" sz="2400" dirty="0" smtClean="0"/>
          </a:p>
          <a:p>
            <a:pPr marL="457200" indent="-457200">
              <a:buAutoNum type="arabicPeriod"/>
            </a:pPr>
            <a:r>
              <a:rPr lang="en-IN" sz="2400" dirty="0" smtClean="0"/>
              <a:t>Flossing and brushing teeth can reduce the likelihood of oral and other diseases. </a:t>
            </a:r>
          </a:p>
          <a:p>
            <a:pPr marL="457200" indent="-457200">
              <a:buAutoNum type="arabicPeriod"/>
            </a:pPr>
            <a:endParaRPr lang="en-IN" sz="2400" dirty="0" smtClean="0"/>
          </a:p>
          <a:p>
            <a:pPr marL="457200" indent="-457200">
              <a:buAutoNum type="arabicPeriod"/>
            </a:pPr>
            <a:r>
              <a:rPr lang="en-IN" sz="2400" dirty="0" smtClean="0"/>
              <a:t>Good hand hygiene will reduce the risk of things like flu, food poisoning and healthcare associated infections being passed from person to person.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Hygiene </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71546"/>
            <a:ext cx="8072462" cy="2308324"/>
          </a:xfrm>
          <a:prstGeom prst="rect">
            <a:avLst/>
          </a:prstGeom>
          <a:noFill/>
        </p:spPr>
        <p:txBody>
          <a:bodyPr wrap="square" rtlCol="0">
            <a:spAutoFit/>
          </a:bodyPr>
          <a:lstStyle/>
          <a:p>
            <a:r>
              <a:rPr lang="en-IN" sz="2400" b="1" dirty="0" smtClean="0"/>
              <a:t>Importance of Hygiene </a:t>
            </a:r>
            <a:endParaRPr lang="en-US" sz="2400" dirty="0" smtClean="0"/>
          </a:p>
          <a:p>
            <a:endParaRPr lang="en-US" sz="2400" dirty="0" smtClean="0"/>
          </a:p>
          <a:p>
            <a:r>
              <a:rPr lang="en-IN" sz="2400" dirty="0" smtClean="0"/>
              <a:t>Teaching the correct principles of hygiene should begin at an early age as possible. It will help to prevent the spreading of infections and diseases that can damage the digestive tract, respiratory tract and the external features of the body.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Hygiene </a:t>
            </a:r>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00108"/>
            <a:ext cx="8072462" cy="5632311"/>
          </a:xfrm>
          <a:prstGeom prst="rect">
            <a:avLst/>
          </a:prstGeom>
          <a:noFill/>
        </p:spPr>
        <p:txBody>
          <a:bodyPr wrap="square" rtlCol="0">
            <a:spAutoFit/>
          </a:bodyPr>
          <a:lstStyle/>
          <a:p>
            <a:r>
              <a:rPr lang="en-IN" sz="2400" b="1" i="1" dirty="0" smtClean="0"/>
              <a:t>Gestures can be some of the most direct and obvious body language signals. Waving, pointing and using the fingers to indicate numerical amounts are all very common and easy to understand gestures. </a:t>
            </a:r>
          </a:p>
          <a:p>
            <a:endParaRPr lang="en-IN" sz="2400" dirty="0" smtClean="0"/>
          </a:p>
          <a:p>
            <a:r>
              <a:rPr lang="en-IN" sz="2400" b="1" dirty="0" smtClean="0"/>
              <a:t>Significance of Body Gestures :</a:t>
            </a:r>
            <a:endParaRPr lang="en-IN" sz="2400" dirty="0" smtClean="0"/>
          </a:p>
          <a:p>
            <a:pPr marL="457200" indent="-457200">
              <a:buFont typeface="+mj-lt"/>
              <a:buAutoNum type="arabicPeriod"/>
            </a:pPr>
            <a:r>
              <a:rPr lang="en-IN" sz="2400" dirty="0" smtClean="0"/>
              <a:t>Clarify and support your words : Gestures strengthen the audience's understanding of verbal message.</a:t>
            </a:r>
          </a:p>
          <a:p>
            <a:pPr marL="457200" indent="-457200">
              <a:buFont typeface="+mj-lt"/>
              <a:buAutoNum type="arabicPeriod"/>
            </a:pPr>
            <a:endParaRPr lang="en-IN" sz="2400" dirty="0" smtClean="0"/>
          </a:p>
          <a:p>
            <a:pPr marL="457200" indent="-457200">
              <a:buFont typeface="+mj-lt"/>
              <a:buAutoNum type="arabicPeriod"/>
            </a:pPr>
            <a:r>
              <a:rPr lang="en-IN" sz="2400" dirty="0" smtClean="0"/>
              <a:t>Dramatize your ideas : Together with what you say, gestures help paint vivid pictures in listeners' minds. </a:t>
            </a:r>
          </a:p>
          <a:p>
            <a:pPr marL="457200" indent="-457200">
              <a:buFont typeface="+mj-lt"/>
              <a:buAutoNum type="arabicPeriod"/>
            </a:pPr>
            <a:endParaRPr lang="en-IN" sz="2400" dirty="0" smtClean="0"/>
          </a:p>
          <a:p>
            <a:pPr marL="457200" indent="-457200">
              <a:buFont typeface="+mj-lt"/>
              <a:buAutoNum type="arabicPeriod"/>
            </a:pPr>
            <a:r>
              <a:rPr lang="en-IN" sz="2400" dirty="0" smtClean="0"/>
              <a:t>Lend emphasis and vitality to the spoken word : Gestures convey feelings and attitudes more clearly than what you say.</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Body Gestures </a:t>
            </a:r>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000108"/>
            <a:ext cx="8072462" cy="5632311"/>
          </a:xfrm>
          <a:prstGeom prst="rect">
            <a:avLst/>
          </a:prstGeom>
          <a:noFill/>
        </p:spPr>
        <p:txBody>
          <a:bodyPr wrap="square" rtlCol="0">
            <a:spAutoFit/>
          </a:bodyPr>
          <a:lstStyle/>
          <a:p>
            <a:r>
              <a:rPr lang="en-IN" sz="2400" b="1" dirty="0" smtClean="0"/>
              <a:t>Significance of Body Gestures :</a:t>
            </a:r>
          </a:p>
          <a:p>
            <a:endParaRPr lang="en-IN" sz="2400" dirty="0" smtClean="0"/>
          </a:p>
          <a:p>
            <a:pPr marL="457200" indent="-457200">
              <a:buAutoNum type="arabicPeriod" startAt="4"/>
            </a:pPr>
            <a:r>
              <a:rPr lang="en-IN" sz="2400" dirty="0" smtClean="0"/>
              <a:t>Help dissipate nervous tension : Purposeful gestures are a good outlet for the nervous energy inherent in a speaking situation. </a:t>
            </a:r>
          </a:p>
          <a:p>
            <a:pPr marL="457200" indent="-457200">
              <a:buAutoNum type="arabicPeriod" startAt="4"/>
            </a:pPr>
            <a:endParaRPr lang="en-US" sz="2400" dirty="0" smtClean="0"/>
          </a:p>
          <a:p>
            <a:pPr marL="457200" indent="-457200">
              <a:buAutoNum type="arabicPeriod" startAt="5"/>
            </a:pPr>
            <a:r>
              <a:rPr lang="en-IN" sz="2400" dirty="0" smtClean="0"/>
              <a:t>Function as visual aids : Gestures enhance audience attentiveness and retention. </a:t>
            </a:r>
          </a:p>
          <a:p>
            <a:pPr marL="457200" indent="-457200">
              <a:buAutoNum type="arabicPeriod" startAt="5"/>
            </a:pPr>
            <a:endParaRPr lang="en-IN" sz="2400" dirty="0" smtClean="0"/>
          </a:p>
          <a:p>
            <a:pPr marL="457200" indent="-457200">
              <a:buAutoNum type="arabicPeriod" startAt="5"/>
            </a:pPr>
            <a:r>
              <a:rPr lang="en-IN" sz="2400" dirty="0" smtClean="0"/>
              <a:t>Stimulate audience participation : Gestures help to indicate the response you seek from  your listeners. </a:t>
            </a:r>
          </a:p>
          <a:p>
            <a:pPr marL="457200" indent="-457200">
              <a:buAutoNum type="arabicPeriod" startAt="5"/>
            </a:pPr>
            <a:endParaRPr lang="en-US" sz="2400" dirty="0" smtClean="0"/>
          </a:p>
          <a:p>
            <a:pPr marL="457200" indent="-457200"/>
            <a:r>
              <a:rPr lang="en-IN" sz="2400" dirty="0" smtClean="0"/>
              <a:t>7.    Are highly visible : .Gestures provide visual support when you address a large number of people and the entire audience may not see your eyes. </a:t>
            </a:r>
            <a:endParaRPr lang="en-US" sz="2400" dirty="0"/>
          </a:p>
        </p:txBody>
      </p:sp>
      <p:sp>
        <p:nvSpPr>
          <p:cNvPr id="7" name="Title 6"/>
          <p:cNvSpPr>
            <a:spLocks noGrp="1"/>
          </p:cNvSpPr>
          <p:nvPr>
            <p:ph type="title"/>
          </p:nvPr>
        </p:nvSpPr>
        <p:spPr>
          <a:xfrm>
            <a:off x="1357290" y="0"/>
            <a:ext cx="7498080" cy="1143000"/>
          </a:xfrm>
        </p:spPr>
        <p:txBody>
          <a:bodyPr/>
          <a:lstStyle/>
          <a:p>
            <a:r>
              <a:rPr lang="en-IN" dirty="0" smtClean="0"/>
              <a:t>Body Gestures </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225689"/>
            <a:ext cx="8072462" cy="6001643"/>
          </a:xfrm>
          <a:prstGeom prst="rect">
            <a:avLst/>
          </a:prstGeom>
          <a:noFill/>
        </p:spPr>
        <p:txBody>
          <a:bodyPr wrap="square" rtlCol="0">
            <a:spAutoFit/>
          </a:bodyPr>
          <a:lstStyle/>
          <a:p>
            <a:r>
              <a:rPr lang="en-IN" sz="2400" dirty="0" smtClean="0"/>
              <a:t>We all have heard the saying "time is money" and that phrase is essentially true. Unfortunately, time doesn't always equal money. Time is continually passing but that doesn't mean you are continually making money, this depends on how you manage your time and what you do with it. </a:t>
            </a:r>
          </a:p>
          <a:p>
            <a:endParaRPr lang="en-US" sz="2400" dirty="0" smtClean="0"/>
          </a:p>
          <a:p>
            <a:r>
              <a:rPr lang="en-IN" sz="2400" dirty="0" smtClean="0"/>
              <a:t>Time management is a broad subject taking control over many different areas, from our day to day actions to our long term goals.</a:t>
            </a:r>
          </a:p>
          <a:p>
            <a:endParaRPr lang="en-US" sz="2400" dirty="0" smtClean="0"/>
          </a:p>
          <a:p>
            <a:r>
              <a:rPr lang="en-IN" sz="2400" dirty="0" smtClean="0"/>
              <a:t>Time management refers to increase in productivity, effectiveness and efficiency. Time management is a set of skills and use tools and techniques to aid you when accomplishing tasks, projects or are working towards goals and deadlines.</a:t>
            </a:r>
          </a:p>
          <a:p>
            <a:endParaRPr lang="en-US" sz="2400" dirty="0" smtClean="0"/>
          </a:p>
          <a:p>
            <a:r>
              <a:rPr lang="en-IN" sz="2400" dirty="0" smtClean="0"/>
              <a:t> </a:t>
            </a:r>
            <a:endParaRPr lang="en-US" sz="2400"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1071546"/>
            <a:ext cx="7498080" cy="1214446"/>
          </a:xfrm>
        </p:spPr>
        <p:txBody>
          <a:bodyPr>
            <a:normAutofit/>
          </a:bodyPr>
          <a:lstStyle/>
          <a:p>
            <a:pPr algn="ctr">
              <a:buNone/>
            </a:pPr>
            <a:endParaRPr lang="en-GB" sz="2400" dirty="0" smtClean="0"/>
          </a:p>
          <a:p>
            <a:pPr>
              <a:buNone/>
            </a:pPr>
            <a:r>
              <a:rPr lang="en-US" sz="1800" dirty="0" smtClean="0"/>
              <a:t>	</a:t>
            </a:r>
            <a:endParaRPr lang="en-US" sz="2400" dirty="0" smtClean="0"/>
          </a:p>
          <a:p>
            <a:endParaRPr lang="en-US" sz="1800" dirty="0" smtClean="0"/>
          </a:p>
          <a:p>
            <a:pPr>
              <a:buNone/>
            </a:pPr>
            <a:endParaRPr lang="en-US" sz="1800" dirty="0" smtClean="0"/>
          </a:p>
          <a:p>
            <a:pPr>
              <a:buNone/>
            </a:pPr>
            <a:endParaRPr lang="en-US" dirty="0"/>
          </a:p>
        </p:txBody>
      </p:sp>
      <p:sp>
        <p:nvSpPr>
          <p:cNvPr id="5" name="TextBox 4"/>
          <p:cNvSpPr txBox="1"/>
          <p:nvPr/>
        </p:nvSpPr>
        <p:spPr>
          <a:xfrm>
            <a:off x="1071538" y="1357298"/>
            <a:ext cx="8072462" cy="2677656"/>
          </a:xfrm>
          <a:prstGeom prst="rect">
            <a:avLst/>
          </a:prstGeom>
          <a:noFill/>
        </p:spPr>
        <p:txBody>
          <a:bodyPr wrap="square" rtlCol="0">
            <a:spAutoFit/>
          </a:bodyPr>
          <a:lstStyle/>
          <a:p>
            <a:endParaRPr lang="en-US" sz="2400" dirty="0" smtClean="0"/>
          </a:p>
          <a:p>
            <a:r>
              <a:rPr lang="en-IN" sz="2400" dirty="0" smtClean="0"/>
              <a:t>Time management is about effective scheduling of time, goal setting, prioritizing and choosing what to do and what not to do,  delegating tasks, analyzing and reviewing spent time, organising workplace, keeping concentration and focus at work, motivating self to work, towards a goal .</a:t>
            </a:r>
            <a:endParaRPr lang="en-US" sz="2400" dirty="0" smtClean="0"/>
          </a:p>
          <a:p>
            <a:r>
              <a:rPr lang="en-IN" sz="2400" dirty="0" smtClean="0"/>
              <a:t> </a:t>
            </a:r>
            <a:endParaRPr lang="en-US" sz="2400"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142984"/>
            <a:ext cx="8072462" cy="5262979"/>
          </a:xfrm>
          <a:prstGeom prst="rect">
            <a:avLst/>
          </a:prstGeom>
          <a:noFill/>
        </p:spPr>
        <p:txBody>
          <a:bodyPr wrap="square" rtlCol="0">
            <a:spAutoFit/>
          </a:bodyPr>
          <a:lstStyle/>
          <a:p>
            <a:r>
              <a:rPr lang="en-IN" sz="2400" b="1" dirty="0" smtClean="0"/>
              <a:t>Importance of Time Management :</a:t>
            </a:r>
          </a:p>
          <a:p>
            <a:r>
              <a:rPr lang="en-IN" sz="2400" b="1" dirty="0" smtClean="0"/>
              <a:t> </a:t>
            </a:r>
            <a:endParaRPr lang="en-US" sz="2400" b="1" dirty="0" smtClean="0"/>
          </a:p>
          <a:p>
            <a:r>
              <a:rPr lang="en-IN" sz="2400" dirty="0" smtClean="0"/>
              <a:t>Time management is not optional. It is something that everyone who wants to work virtually, practices time management to some degree ;  the question is how well they do it and how it affects what they do. Time management must be seen as synonymous with self management it demands discipline, but discipline is reinforced by habit. Here are eight reasons, which explains why time management is important:</a:t>
            </a:r>
          </a:p>
          <a:p>
            <a:endParaRPr lang="en-US" sz="2400" dirty="0" smtClean="0"/>
          </a:p>
          <a:p>
            <a:r>
              <a:rPr lang="en-IN" sz="2400" dirty="0" smtClean="0"/>
              <a:t> I.  Time is limited. Everyone gets the same amount of time each day and it's limited, therefore, it's important to manage the most, of the time effectively, if someone wants to be more than average at the workplace. </a:t>
            </a:r>
            <a:endParaRPr lang="en-US" sz="2400" dirty="0" smtClean="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142984"/>
            <a:ext cx="8072462" cy="5262979"/>
          </a:xfrm>
          <a:prstGeom prst="rect">
            <a:avLst/>
          </a:prstGeom>
          <a:noFill/>
        </p:spPr>
        <p:txBody>
          <a:bodyPr wrap="square" rtlCol="0">
            <a:spAutoFit/>
          </a:bodyPr>
          <a:lstStyle/>
          <a:p>
            <a:r>
              <a:rPr lang="en-IN" sz="2400" b="1" dirty="0" smtClean="0"/>
              <a:t>Importance of Time Management :</a:t>
            </a:r>
          </a:p>
          <a:p>
            <a:r>
              <a:rPr lang="en-IN" sz="2400" b="1" dirty="0" smtClean="0"/>
              <a:t> </a:t>
            </a:r>
            <a:endParaRPr lang="en-US" sz="2400" b="1" dirty="0" smtClean="0"/>
          </a:p>
          <a:p>
            <a:pPr marL="457200" indent="-457200">
              <a:buAutoNum type="arabicPeriod" startAt="2"/>
            </a:pPr>
            <a:r>
              <a:rPr lang="en-IN" sz="2400" dirty="0" smtClean="0"/>
              <a:t>Accomplish more with less effort. By taking control of time one can able to stay focused on the task at hand. This leads to higher efficiency.  </a:t>
            </a:r>
          </a:p>
          <a:p>
            <a:pPr marL="457200" indent="-457200">
              <a:buFontTx/>
              <a:buAutoNum type="arabicPeriod" startAt="2"/>
            </a:pPr>
            <a:r>
              <a:rPr lang="en-IN" sz="2400" dirty="0" smtClean="0"/>
              <a:t>Make better decisions. There are many choices in life and often-times we are faced with many choices to choose from at the same time. When practicing good time management, we have more time to breathe ;  this allows to determine which choices are the best to make. When we feel pressed for time and have to make a decision, we are more likely to jump to conclusions and not fully consider the different  options ; this leads to poor decision making. </a:t>
            </a:r>
            <a:endParaRPr lang="en-US" sz="2400" dirty="0" smtClean="0"/>
          </a:p>
          <a:p>
            <a:pPr marL="457200" indent="-457200">
              <a:buAutoNum type="arabicPeriod" startAt="2"/>
            </a:pPr>
            <a:endParaRPr lang="en-US" sz="2400"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142984"/>
            <a:ext cx="8072462" cy="4524315"/>
          </a:xfrm>
          <a:prstGeom prst="rect">
            <a:avLst/>
          </a:prstGeom>
          <a:noFill/>
        </p:spPr>
        <p:txBody>
          <a:bodyPr wrap="square" rtlCol="0">
            <a:spAutoFit/>
          </a:bodyPr>
          <a:lstStyle/>
          <a:p>
            <a:r>
              <a:rPr lang="en-IN" sz="2400" b="1" dirty="0" smtClean="0"/>
              <a:t>Importance of Time Management :</a:t>
            </a:r>
          </a:p>
          <a:p>
            <a:r>
              <a:rPr lang="en-IN" sz="2400" b="1" dirty="0" smtClean="0"/>
              <a:t> </a:t>
            </a:r>
            <a:endParaRPr lang="en-US" sz="2400" b="1" dirty="0" smtClean="0"/>
          </a:p>
          <a:p>
            <a:pPr marL="457200" indent="-457200">
              <a:buAutoNum type="arabicPeriod" startAt="4"/>
            </a:pPr>
            <a:r>
              <a:rPr lang="en-IN" sz="2400" dirty="0" smtClean="0"/>
              <a:t>Be more successful. Time management is the key to success ; it allows to take control of life rather than follow the flow of others. One can accomplish more, make better decisions and work more efficiently ; this leads to a more successful life. </a:t>
            </a:r>
          </a:p>
          <a:p>
            <a:pPr marL="457200" indent="-457200">
              <a:buAutoNum type="arabicPeriod" startAt="4"/>
            </a:pPr>
            <a:endParaRPr lang="en-IN" sz="2400" dirty="0" smtClean="0"/>
          </a:p>
          <a:p>
            <a:pPr marL="457200" indent="-457200">
              <a:buAutoNum type="arabicPeriod" startAt="5"/>
            </a:pPr>
            <a:r>
              <a:rPr lang="en-IN" sz="2400" dirty="0" smtClean="0"/>
              <a:t>Learn more. When one can control time and work more efficiently, be will be able to learn more and increase his experience faster. This  is the reason why some students graduate earlier than others. </a:t>
            </a:r>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142984"/>
            <a:ext cx="8072462" cy="4154984"/>
          </a:xfrm>
          <a:prstGeom prst="rect">
            <a:avLst/>
          </a:prstGeom>
          <a:noFill/>
        </p:spPr>
        <p:txBody>
          <a:bodyPr wrap="square" rtlCol="0">
            <a:spAutoFit/>
          </a:bodyPr>
          <a:lstStyle/>
          <a:p>
            <a:r>
              <a:rPr lang="en-IN" sz="2400" b="1" dirty="0" smtClean="0"/>
              <a:t>Importance of Time Management :</a:t>
            </a:r>
          </a:p>
          <a:p>
            <a:r>
              <a:rPr lang="en-IN" sz="2400" b="1" dirty="0" smtClean="0"/>
              <a:t> </a:t>
            </a:r>
            <a:endParaRPr lang="en-US" sz="2400" dirty="0" smtClean="0"/>
          </a:p>
          <a:p>
            <a:r>
              <a:rPr lang="en-IN" sz="2400" dirty="0" smtClean="0"/>
              <a:t>6.  Reduce stress. One of the main causes of stress is due to people feeling rushed. The phrase have so much to do and so little time to do it" is generally spoken with frustration, which leads to stress. With good time management, one knows how much time he has, how long it will take to get his task done, he accomplishes more and has more free time. This gives him more breathing room, which reduces the feeling of being rushed, which in turn leads to less frustration and stress.</a:t>
            </a:r>
            <a:endParaRPr lang="en-US" sz="2400" dirty="0" smtClean="0"/>
          </a:p>
          <a:p>
            <a:pPr marL="457200" indent="-457200">
              <a:buAutoNum type="arabicPeriod" startAt="2"/>
            </a:pPr>
            <a:endParaRPr lang="en-US" sz="2400"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142984"/>
            <a:ext cx="8072462" cy="3416320"/>
          </a:xfrm>
          <a:prstGeom prst="rect">
            <a:avLst/>
          </a:prstGeom>
          <a:noFill/>
        </p:spPr>
        <p:txBody>
          <a:bodyPr wrap="square" rtlCol="0">
            <a:spAutoFit/>
          </a:bodyPr>
          <a:lstStyle/>
          <a:p>
            <a:r>
              <a:rPr lang="en-IN" sz="2400" b="1" dirty="0" smtClean="0"/>
              <a:t>Importance of Time Management :</a:t>
            </a:r>
          </a:p>
          <a:p>
            <a:r>
              <a:rPr lang="en-IN" sz="2400" b="1" dirty="0" smtClean="0"/>
              <a:t> </a:t>
            </a:r>
            <a:endParaRPr lang="en-US" sz="2400" dirty="0" smtClean="0"/>
          </a:p>
          <a:p>
            <a:r>
              <a:rPr lang="en-IN" sz="2400" dirty="0" smtClean="0"/>
              <a:t> 7.  Higher quality work. We all need some free time to relax and unwind but, unfortunately, many of us do not get much free time because we are too busy trying to keep up with our daily activities and work load. By implementing time management skills, we are able to get more done in a shorter period of time leading to more free time.</a:t>
            </a:r>
            <a:endParaRPr lang="en-US" sz="2400" dirty="0" smtClean="0"/>
          </a:p>
          <a:p>
            <a:pPr marL="457200" indent="-457200">
              <a:buAutoNum type="arabicPeriod" startAt="2"/>
            </a:pPr>
            <a:endParaRPr lang="en-US" sz="2400"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TIME MANAGEMENT </a:t>
            </a:r>
            <a:endParaRPr lang="en-US" sz="3200"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643050"/>
            <a:ext cx="8072462" cy="1938992"/>
          </a:xfrm>
          <a:prstGeom prst="rect">
            <a:avLst/>
          </a:prstGeom>
          <a:noFill/>
        </p:spPr>
        <p:txBody>
          <a:bodyPr wrap="square" rtlCol="0">
            <a:spAutoFit/>
          </a:bodyPr>
          <a:lstStyle/>
          <a:p>
            <a:r>
              <a:rPr lang="en-IN" sz="2400" i="1" dirty="0" smtClean="0"/>
              <a:t>Intellectual is defined as the ability to think, question and evaluate : to acquire knowledge ; to process and use information ; to be creative and open to new ideas. These enable one to leap from life experience, make judgement, solve problem and cope with difficulties.</a:t>
            </a:r>
            <a:endParaRPr lang="en-US" sz="2400" i="1"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INTELLECTUAL DEVELOPMENT </a:t>
            </a:r>
            <a:endParaRPr lang="en-US" sz="3200"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071546"/>
            <a:ext cx="8072462" cy="5262979"/>
          </a:xfrm>
          <a:prstGeom prst="rect">
            <a:avLst/>
          </a:prstGeom>
          <a:noFill/>
        </p:spPr>
        <p:txBody>
          <a:bodyPr wrap="square" rtlCol="0">
            <a:spAutoFit/>
          </a:bodyPr>
          <a:lstStyle/>
          <a:p>
            <a:r>
              <a:rPr lang="en-IN" sz="2400" b="1" dirty="0" smtClean="0"/>
              <a:t>Reading Skills</a:t>
            </a:r>
            <a:r>
              <a:rPr lang="en-IN" sz="2400" dirty="0" smtClean="0"/>
              <a:t> </a:t>
            </a:r>
            <a:r>
              <a:rPr lang="en-IN" sz="2400" b="1" dirty="0" smtClean="0"/>
              <a:t>:</a:t>
            </a:r>
          </a:p>
          <a:p>
            <a:r>
              <a:rPr lang="en-IN" sz="2400" b="1" dirty="0" smtClean="0"/>
              <a:t> </a:t>
            </a:r>
            <a:endParaRPr lang="en-US" sz="2400" dirty="0" smtClean="0"/>
          </a:p>
          <a:p>
            <a:r>
              <a:rPr lang="en-IN" sz="2400" dirty="0" smtClean="0"/>
              <a:t>Reading is a tool of learning. It is the one of the most important skills. It makes a relation between writer and leader. </a:t>
            </a:r>
          </a:p>
          <a:p>
            <a:endParaRPr lang="en-US" sz="2400" dirty="0" smtClean="0"/>
          </a:p>
          <a:p>
            <a:r>
              <a:rPr lang="en-IN" sz="2400" dirty="0" smtClean="0"/>
              <a:t>"The way of increasing the knowledge base is called Reading".</a:t>
            </a:r>
          </a:p>
          <a:p>
            <a:endParaRPr lang="en-US" sz="2400" dirty="0" smtClean="0"/>
          </a:p>
          <a:p>
            <a:r>
              <a:rPr lang="en-IN" sz="2400" dirty="0" smtClean="0"/>
              <a:t>"Reading is also a means of communication and of sharing information and ideas". </a:t>
            </a:r>
          </a:p>
          <a:p>
            <a:endParaRPr lang="en-US" sz="2400" dirty="0" smtClean="0"/>
          </a:p>
          <a:p>
            <a:r>
              <a:rPr lang="en-IN" sz="2400" dirty="0" smtClean="0"/>
              <a:t>Readers use variety of reading strategies to assist with decoding (to translate symbols into sounds or visual representation of language) and comprehension. </a:t>
            </a:r>
            <a:endParaRPr lang="en-US" sz="2400" dirty="0" smtClean="0"/>
          </a:p>
          <a:p>
            <a:endParaRPr lang="en-US" sz="2400" i="1"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INTELLECTUAL DEVELOPMENT </a:t>
            </a:r>
            <a:endParaRPr lang="en-US" sz="32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071546"/>
            <a:ext cx="8072462" cy="6001643"/>
          </a:xfrm>
          <a:prstGeom prst="rect">
            <a:avLst/>
          </a:prstGeom>
          <a:noFill/>
        </p:spPr>
        <p:txBody>
          <a:bodyPr wrap="square" rtlCol="0">
            <a:spAutoFit/>
          </a:bodyPr>
          <a:lstStyle/>
          <a:p>
            <a:r>
              <a:rPr lang="en-IN" sz="2400" b="1" dirty="0" smtClean="0"/>
              <a:t>Reading Skills</a:t>
            </a:r>
            <a:r>
              <a:rPr lang="en-IN" sz="2400" dirty="0" smtClean="0"/>
              <a:t> </a:t>
            </a:r>
            <a:r>
              <a:rPr lang="en-IN" sz="2400" b="1" dirty="0" smtClean="0"/>
              <a:t>:</a:t>
            </a:r>
          </a:p>
          <a:p>
            <a:r>
              <a:rPr lang="en-IN" sz="2400" b="1" dirty="0" smtClean="0"/>
              <a:t> </a:t>
            </a:r>
            <a:endParaRPr lang="en-US" sz="2400" dirty="0" smtClean="0"/>
          </a:p>
          <a:p>
            <a:pPr marL="457200" indent="-457200">
              <a:buAutoNum type="arabicPeriod"/>
            </a:pPr>
            <a:r>
              <a:rPr lang="en-IN" sz="2400" b="1" dirty="0" smtClean="0"/>
              <a:t>Systematic Reading </a:t>
            </a:r>
            <a:r>
              <a:rPr lang="en-IN" sz="2400" dirty="0" smtClean="0"/>
              <a:t>: The systematic reading method is completed in the following steps :</a:t>
            </a:r>
          </a:p>
          <a:p>
            <a:pPr marL="457200" indent="-457200"/>
            <a:endParaRPr lang="en-US" sz="2400" dirty="0" smtClean="0"/>
          </a:p>
          <a:p>
            <a:pPr marL="457200" indent="-457200">
              <a:buAutoNum type="alphaLcParenBoth"/>
            </a:pPr>
            <a:r>
              <a:rPr lang="en-IN" sz="2400" u="sng" dirty="0" smtClean="0"/>
              <a:t>Survey (Simple View) </a:t>
            </a:r>
            <a:r>
              <a:rPr lang="en-IN" sz="2400" dirty="0" smtClean="0"/>
              <a:t>: This is not actually the reading of whole chapter. It involves reading only the chapter title, sub-titles, italicized terms, boldface type and introductory or summary sections.</a:t>
            </a:r>
          </a:p>
          <a:p>
            <a:pPr marL="457200" indent="-457200">
              <a:buAutoNum type="alphaLcParenBoth"/>
            </a:pPr>
            <a:endParaRPr lang="en-US" sz="2400" dirty="0" smtClean="0"/>
          </a:p>
          <a:p>
            <a:r>
              <a:rPr lang="en-IN" sz="2400" dirty="0" smtClean="0"/>
              <a:t>(b) </a:t>
            </a:r>
            <a:r>
              <a:rPr lang="en-IN" sz="2400" u="sng" dirty="0" smtClean="0"/>
              <a:t>Question</a:t>
            </a:r>
            <a:r>
              <a:rPr lang="en-IN" sz="2400" dirty="0" smtClean="0"/>
              <a:t> : Go to the first major heading. Anticipate what will be in that section. Using the interrogatives who, what, where. when and why, turn heading into a question. Then, write the question down. </a:t>
            </a:r>
            <a:endParaRPr lang="en-US" sz="2400" dirty="0" smtClean="0"/>
          </a:p>
          <a:p>
            <a:endParaRPr lang="en-US" sz="2400" dirty="0" smtClean="0"/>
          </a:p>
          <a:p>
            <a:endParaRPr lang="en-US" sz="2400" i="1"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INTELLECTUAL DEVELOPMENT </a:t>
            </a:r>
            <a:endParaRPr lang="en-US" sz="3200"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1071546"/>
            <a:ext cx="8072462" cy="5632311"/>
          </a:xfrm>
          <a:prstGeom prst="rect">
            <a:avLst/>
          </a:prstGeom>
          <a:noFill/>
        </p:spPr>
        <p:txBody>
          <a:bodyPr wrap="square" rtlCol="0">
            <a:spAutoFit/>
          </a:bodyPr>
          <a:lstStyle/>
          <a:p>
            <a:r>
              <a:rPr lang="en-IN" sz="2400" b="1" dirty="0" smtClean="0"/>
              <a:t>Reading Skills</a:t>
            </a:r>
            <a:r>
              <a:rPr lang="en-IN" sz="2400" dirty="0" smtClean="0"/>
              <a:t> </a:t>
            </a:r>
            <a:r>
              <a:rPr lang="en-IN" sz="2400" b="1" dirty="0" smtClean="0"/>
              <a:t>:</a:t>
            </a:r>
          </a:p>
          <a:p>
            <a:r>
              <a:rPr lang="en-IN" sz="2400" b="1" dirty="0" smtClean="0"/>
              <a:t> </a:t>
            </a:r>
            <a:endParaRPr lang="en-US" sz="2400" dirty="0" smtClean="0"/>
          </a:p>
          <a:p>
            <a:r>
              <a:rPr lang="en-IN" sz="2400" dirty="0" smtClean="0"/>
              <a:t>(c) </a:t>
            </a:r>
            <a:r>
              <a:rPr lang="en-IN" sz="2400" u="sng" dirty="0" smtClean="0"/>
              <a:t>Read</a:t>
            </a:r>
            <a:r>
              <a:rPr lang="en-IN" sz="2400" dirty="0" smtClean="0"/>
              <a:t> : Read the chapter section by section for the purpose of answering the question.</a:t>
            </a:r>
          </a:p>
          <a:p>
            <a:endParaRPr lang="en-US" sz="2400" dirty="0" smtClean="0"/>
          </a:p>
          <a:p>
            <a:r>
              <a:rPr lang="en-IN" sz="2400" dirty="0" smtClean="0"/>
              <a:t> There are different types of reading skills. </a:t>
            </a:r>
          </a:p>
          <a:p>
            <a:endParaRPr lang="en-US" sz="2400" dirty="0" smtClean="0"/>
          </a:p>
          <a:p>
            <a:pPr marL="457200" lvl="0" indent="-457200">
              <a:buFont typeface="Arial" pitchFamily="34" charset="0"/>
              <a:buChar char="•"/>
            </a:pPr>
            <a:r>
              <a:rPr lang="en-IN" sz="2400" dirty="0" smtClean="0"/>
              <a:t>Skimming : Reading rapidly for the main points. </a:t>
            </a:r>
            <a:endParaRPr lang="en-US" sz="2400" dirty="0" smtClean="0"/>
          </a:p>
          <a:p>
            <a:pPr marL="457200" lvl="0" indent="-457200">
              <a:buFont typeface="Arial" pitchFamily="34" charset="0"/>
              <a:buChar char="•"/>
            </a:pPr>
            <a:r>
              <a:rPr lang="en-IN" sz="2400" dirty="0" smtClean="0"/>
              <a:t>Scanning : Reading rapidly to find a specific piece of information. </a:t>
            </a:r>
            <a:endParaRPr lang="en-US" sz="2400" dirty="0" smtClean="0"/>
          </a:p>
          <a:p>
            <a:pPr marL="457200" lvl="0" indent="-457200">
              <a:buFont typeface="Arial" pitchFamily="34" charset="0"/>
              <a:buChar char="•"/>
            </a:pPr>
            <a:r>
              <a:rPr lang="en-IN" sz="2400" dirty="0" smtClean="0"/>
              <a:t>Extensive Reading : Reading a longer text, often for pleasure with emphasis on overall meaning.</a:t>
            </a:r>
            <a:endParaRPr lang="en-US" sz="2400" dirty="0" smtClean="0"/>
          </a:p>
          <a:p>
            <a:pPr marL="457200" lvl="0" indent="-457200">
              <a:buFont typeface="Arial" pitchFamily="34" charset="0"/>
              <a:buChar char="•"/>
            </a:pPr>
            <a:r>
              <a:rPr lang="en-IN" sz="2400" dirty="0" smtClean="0"/>
              <a:t>Intensive Reading : Reading a short text for detailed information. </a:t>
            </a:r>
            <a:endParaRPr lang="en-US" sz="2400" dirty="0" smtClean="0"/>
          </a:p>
          <a:p>
            <a:endParaRPr lang="en-US" sz="2400" i="1"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INTELLECTUAL DEVELOPMENT </a:t>
            </a:r>
            <a:endParaRPr lang="en-US" sz="3200"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71538" y="928670"/>
            <a:ext cx="8072462" cy="6370975"/>
          </a:xfrm>
          <a:prstGeom prst="rect">
            <a:avLst/>
          </a:prstGeom>
          <a:noFill/>
        </p:spPr>
        <p:txBody>
          <a:bodyPr wrap="square" rtlCol="0">
            <a:spAutoFit/>
          </a:bodyPr>
          <a:lstStyle/>
          <a:p>
            <a:r>
              <a:rPr lang="en-IN" sz="2400" b="1" dirty="0" smtClean="0"/>
              <a:t>Reading Skills</a:t>
            </a:r>
            <a:r>
              <a:rPr lang="en-IN" sz="2400" dirty="0" smtClean="0"/>
              <a:t> </a:t>
            </a:r>
            <a:r>
              <a:rPr lang="en-IN" sz="2400" b="1" dirty="0" smtClean="0"/>
              <a:t>:</a:t>
            </a:r>
          </a:p>
          <a:p>
            <a:r>
              <a:rPr lang="en-IN" sz="2400" b="1" dirty="0" smtClean="0"/>
              <a:t> </a:t>
            </a:r>
            <a:endParaRPr lang="en-US" sz="2400" dirty="0" smtClean="0"/>
          </a:p>
          <a:p>
            <a:r>
              <a:rPr lang="en-IN" sz="2400" dirty="0" smtClean="0"/>
              <a:t>(d) Record : In the reader's own words and without looking at the text, write down very short cue phrases. Think about the meaning, making certain what you write is noteworthy. Use key words, key phrases or numbering systems for parts of your answer. </a:t>
            </a:r>
          </a:p>
          <a:p>
            <a:endParaRPr lang="en-US" sz="2400" dirty="0" smtClean="0"/>
          </a:p>
          <a:p>
            <a:r>
              <a:rPr lang="en-IN" sz="2400" dirty="0" smtClean="0"/>
              <a:t>(e) Recite : Cover your answer and recite it from memory. </a:t>
            </a:r>
          </a:p>
          <a:p>
            <a:endParaRPr lang="en-US" sz="2400" dirty="0" smtClean="0"/>
          </a:p>
          <a:p>
            <a:r>
              <a:rPr lang="en-IN" sz="2400" dirty="0" smtClean="0"/>
              <a:t>(f) Repeat : Repeat steps 2, 3, 4 and 5 for each section in the entire chapter. </a:t>
            </a:r>
          </a:p>
          <a:p>
            <a:endParaRPr lang="en-US" sz="2400" dirty="0" smtClean="0"/>
          </a:p>
          <a:p>
            <a:r>
              <a:rPr lang="en-IN" sz="2400" dirty="0" smtClean="0"/>
              <a:t>(g) Review : Recite all answers from memory. If you can't recite all of the answers from memory, keep studying until you can. Then, go to question number two. </a:t>
            </a:r>
            <a:endParaRPr lang="en-US" sz="2400" dirty="0" smtClean="0"/>
          </a:p>
          <a:p>
            <a:endParaRPr lang="en-US" sz="2400" i="1" dirty="0"/>
          </a:p>
        </p:txBody>
      </p:sp>
      <p:sp>
        <p:nvSpPr>
          <p:cNvPr id="7" name="Title 6"/>
          <p:cNvSpPr>
            <a:spLocks noGrp="1"/>
          </p:cNvSpPr>
          <p:nvPr>
            <p:ph type="title"/>
          </p:nvPr>
        </p:nvSpPr>
        <p:spPr>
          <a:xfrm>
            <a:off x="1357290" y="0"/>
            <a:ext cx="7498080" cy="1143000"/>
          </a:xfrm>
        </p:spPr>
        <p:txBody>
          <a:bodyPr>
            <a:normAutofit/>
          </a:bodyPr>
          <a:lstStyle/>
          <a:p>
            <a:r>
              <a:rPr lang="en-IN" sz="3200" dirty="0" smtClean="0"/>
              <a:t>INTELLECTUAL DEVELOPMENT </a:t>
            </a:r>
            <a:endParaRPr lang="en-US" sz="32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776</TotalTime>
  <Words>7668</Words>
  <Application>WPS Presentation</Application>
  <PresentationFormat>On-screen Show (4:3)</PresentationFormat>
  <Paragraphs>1025</Paragraphs>
  <Slides>95</Slides>
  <Notes>10</Notes>
  <HiddenSlides>0</HiddenSlides>
  <MMClips>0</MMClips>
  <ScaleCrop>false</ScaleCrop>
  <HeadingPairs>
    <vt:vector size="4" baseType="variant">
      <vt:variant>
        <vt:lpstr>Theme</vt:lpstr>
      </vt:variant>
      <vt:variant>
        <vt:i4>1</vt:i4>
      </vt:variant>
      <vt:variant>
        <vt:lpstr>Slide Titles</vt:lpstr>
      </vt:variant>
      <vt:variant>
        <vt:i4>95</vt:i4>
      </vt:variant>
    </vt:vector>
  </HeadingPairs>
  <TitlesOfParts>
    <vt:vector size="96" baseType="lpstr">
      <vt:lpstr>Solstice</vt:lpstr>
      <vt:lpstr>Slide 1</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- 1 </vt:lpstr>
      <vt:lpstr>CHAPTER - 2 </vt:lpstr>
      <vt:lpstr>Life Long Learning skills </vt:lpstr>
      <vt:lpstr>Life Long Learning skills </vt:lpstr>
      <vt:lpstr>Life Long Learning skills </vt:lpstr>
      <vt:lpstr>PERSONALITY DEVELOPMENT   </vt:lpstr>
      <vt:lpstr>PERSONALITY DEVELOPMENT   </vt:lpstr>
      <vt:lpstr>PERSONALITY DEVELOPMENT   </vt:lpstr>
      <vt:lpstr>PERSONALITY DEVELOPMENT   </vt:lpstr>
      <vt:lpstr>PERSONALITY DEVELOPMENT   </vt:lpstr>
      <vt:lpstr>VALUES   </vt:lpstr>
      <vt:lpstr>VALUES   </vt:lpstr>
      <vt:lpstr>ETHICS   </vt:lpstr>
      <vt:lpstr>ETHICS   </vt:lpstr>
      <vt:lpstr>ETHICS   </vt:lpstr>
      <vt:lpstr>ETHICS   </vt:lpstr>
      <vt:lpstr>ETHICS   </vt:lpstr>
      <vt:lpstr>ETHICS   </vt:lpstr>
      <vt:lpstr>ETHICS   </vt:lpstr>
      <vt:lpstr>ETHICS   </vt:lpstr>
      <vt:lpstr>Physical Development</vt:lpstr>
      <vt:lpstr>Physical Development</vt:lpstr>
      <vt:lpstr>Health and its Significance </vt:lpstr>
      <vt:lpstr>Health and its Significance </vt:lpstr>
      <vt:lpstr>Hygiene </vt:lpstr>
      <vt:lpstr>Hygiene </vt:lpstr>
      <vt:lpstr>Hygiene </vt:lpstr>
      <vt:lpstr>Hygiene </vt:lpstr>
      <vt:lpstr>Hygiene </vt:lpstr>
      <vt:lpstr>Body Gestures </vt:lpstr>
      <vt:lpstr>Body Gestures </vt:lpstr>
      <vt:lpstr>TIME MANAGEMENT </vt:lpstr>
      <vt:lpstr>TIME MANAGEMENT </vt:lpstr>
      <vt:lpstr>TIME MANAGEMENT </vt:lpstr>
      <vt:lpstr>TIME MANAGEMENT </vt:lpstr>
      <vt:lpstr>TIME MANAGEMENT </vt:lpstr>
      <vt:lpstr>TIME MANAGEMENT </vt:lpstr>
      <vt:lpstr>TIME MANAGEMENT </vt:lpstr>
      <vt:lpstr>INTELLECTUAL DEVELOPMENT </vt:lpstr>
      <vt:lpstr>INTELLECTUAL DEVELOPMENT </vt:lpstr>
      <vt:lpstr>INTELLECTUAL DEVELOPMENT </vt:lpstr>
      <vt:lpstr>INTELLECTUAL DEVELOPMENT </vt:lpstr>
      <vt:lpstr>INTELLECTUAL DEVELOPMENT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Pankaj</dc:creator>
  <cp:lastModifiedBy>Pankaj</cp:lastModifiedBy>
  <cp:revision>77</cp:revision>
  <dcterms:created xsi:type="dcterms:W3CDTF">2020-08-31T03:12:00Z</dcterms:created>
  <dcterms:modified xsi:type="dcterms:W3CDTF">2026-01-29T04:54:50Z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1033-11.2.0.9635</vt:lpwstr>
  </property>
</Properties>
</file>